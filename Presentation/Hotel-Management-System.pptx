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Barlow Bold" panose="020B0604020202020204" charset="0"/>
      <p:regular r:id="rId13"/>
    </p:embeddedFont>
    <p:embeddedFont>
      <p:font typeface="Montserrat" panose="00000500000000000000"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50" d="100"/>
          <a:sy n="150" d="100"/>
        </p:scale>
        <p:origin x="-50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shadab alam" userId="ede56b0177303322" providerId="LiveId" clId="{36B84133-A513-41EF-A251-0650802845EB}"/>
    <pc:docChg chg="modSld">
      <pc:chgData name="md shadab alam" userId="ede56b0177303322" providerId="LiveId" clId="{36B84133-A513-41EF-A251-0650802845EB}" dt="2026-05-25T03:15:06.556" v="1" actId="1036"/>
      <pc:docMkLst>
        <pc:docMk/>
      </pc:docMkLst>
      <pc:sldChg chg="modSp mod">
        <pc:chgData name="md shadab alam" userId="ede56b0177303322" providerId="LiveId" clId="{36B84133-A513-41EF-A251-0650802845EB}" dt="2026-05-25T03:11:20.718" v="0" actId="20577"/>
        <pc:sldMkLst>
          <pc:docMk/>
          <pc:sldMk cId="0" sldId="257"/>
        </pc:sldMkLst>
        <pc:spChg chg="mod">
          <ac:chgData name="md shadab alam" userId="ede56b0177303322" providerId="LiveId" clId="{36B84133-A513-41EF-A251-0650802845EB}" dt="2026-05-25T03:11:20.718" v="0" actId="20577"/>
          <ac:spMkLst>
            <pc:docMk/>
            <pc:sldMk cId="0" sldId="257"/>
            <ac:spMk id="7" creationId="{00000000-0000-0000-0000-000000000000}"/>
          </ac:spMkLst>
        </pc:spChg>
      </pc:sldChg>
      <pc:sldChg chg="modSp mod">
        <pc:chgData name="md shadab alam" userId="ede56b0177303322" providerId="LiveId" clId="{36B84133-A513-41EF-A251-0650802845EB}" dt="2026-05-25T03:15:06.556" v="1" actId="1036"/>
        <pc:sldMkLst>
          <pc:docMk/>
          <pc:sldMk cId="0" sldId="259"/>
        </pc:sldMkLst>
        <pc:picChg chg="mod">
          <ac:chgData name="md shadab alam" userId="ede56b0177303322" providerId="LiveId" clId="{36B84133-A513-41EF-A251-0650802845EB}" dt="2026-05-25T03:15:06.556" v="1" actId="1036"/>
          <ac:picMkLst>
            <pc:docMk/>
            <pc:sldMk cId="0" sldId="259"/>
            <ac:picMk id="3"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9930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543550" y="0"/>
            <a:ext cx="3600450" cy="5143500"/>
          </a:xfrm>
          <a:prstGeom prst="rect">
            <a:avLst/>
          </a:prstGeom>
        </p:spPr>
      </p:pic>
      <p:sp>
        <p:nvSpPr>
          <p:cNvPr id="3" name="Text 0"/>
          <p:cNvSpPr/>
          <p:nvPr/>
        </p:nvSpPr>
        <p:spPr>
          <a:xfrm>
            <a:off x="389537" y="716553"/>
            <a:ext cx="4129236" cy="389706"/>
          </a:xfrm>
          <a:prstGeom prst="rect">
            <a:avLst/>
          </a:prstGeom>
          <a:noFill/>
          <a:ln/>
        </p:spPr>
        <p:txBody>
          <a:bodyPr wrap="none" lIns="0" tIns="0" rIns="0" bIns="0" rtlCol="0" anchor="t"/>
          <a:lstStyle/>
          <a:p>
            <a:pPr marL="0" indent="0" algn="l">
              <a:lnSpc>
                <a:spcPct val="104000"/>
              </a:lnSpc>
              <a:buNone/>
            </a:pPr>
            <a:r>
              <a:rPr lang="en-US" sz="2450" b="1" dirty="0">
                <a:solidFill>
                  <a:srgbClr val="2E3C4E"/>
                </a:solidFill>
                <a:latin typeface="Barlow Bold" pitchFamily="34" charset="0"/>
                <a:ea typeface="Barlow Bold" pitchFamily="34" charset="-122"/>
                <a:cs typeface="Barlow Bold" pitchFamily="34" charset="-120"/>
              </a:rPr>
              <a:t>Hotel Management System</a:t>
            </a:r>
            <a:endParaRPr lang="en-US" sz="2450" dirty="0"/>
          </a:p>
        </p:txBody>
      </p:sp>
      <p:sp>
        <p:nvSpPr>
          <p:cNvPr id="4" name="Text 1"/>
          <p:cNvSpPr/>
          <p:nvPr/>
        </p:nvSpPr>
        <p:spPr>
          <a:xfrm>
            <a:off x="389537" y="1480909"/>
            <a:ext cx="4767114" cy="568598"/>
          </a:xfrm>
          <a:prstGeom prst="rect">
            <a:avLst/>
          </a:prstGeom>
          <a:noFill/>
          <a:ln/>
        </p:spPr>
        <p:txBody>
          <a:bodyPr wrap="square" lIns="0" tIns="0" rIns="0" bIns="0" rtlCol="0" anchor="t">
            <a:noAutofit/>
          </a:bodyPr>
          <a:lstStyle/>
          <a:p>
            <a:pPr algn="just">
              <a:lnSpc>
                <a:spcPct val="150000"/>
              </a:lnSpc>
            </a:pPr>
            <a:r>
              <a:rPr lang="en-US" sz="1200" dirty="0"/>
              <a:t>Database Mini Project using </a:t>
            </a:r>
            <a:r>
              <a:rPr lang="en-US" sz="1200" b="1" dirty="0"/>
              <a:t>Microsoft SQL Server</a:t>
            </a:r>
            <a:r>
              <a:rPr lang="en-US" sz="1200" dirty="0"/>
              <a:t> — demonstrating practical implementation of database design, normalization, SQL Server concepts, and real-world hotel operations management. The system helps manage essential hotel activities such as room reservations, guest records, check-ins and check-outs, billing, and occupancy tracking in a structured way. It is important because it shows how a well-designed database can improve accuracy, reduce manual work, and support efficient day-to-day hotel operations.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7132" y="339245"/>
            <a:ext cx="5052194" cy="389706"/>
          </a:xfrm>
          <a:prstGeom prst="rect">
            <a:avLst/>
          </a:prstGeom>
          <a:noFill/>
          <a:ln/>
        </p:spPr>
        <p:txBody>
          <a:bodyPr wrap="none" lIns="0" tIns="0" rIns="0" bIns="0" rtlCol="0" anchor="t"/>
          <a:lstStyle/>
          <a:p>
            <a:pPr marL="0" indent="0" algn="l">
              <a:lnSpc>
                <a:spcPct val="104000"/>
              </a:lnSpc>
              <a:buNone/>
            </a:pPr>
            <a:r>
              <a:rPr lang="en-US" sz="2450" b="1" dirty="0">
                <a:solidFill>
                  <a:srgbClr val="2E3C4E"/>
                </a:solidFill>
                <a:latin typeface="Barlow Bold" pitchFamily="34" charset="0"/>
                <a:ea typeface="Barlow Bold" pitchFamily="34" charset="-122"/>
                <a:cs typeface="Barlow Bold" pitchFamily="34" charset="-120"/>
              </a:rPr>
              <a:t>Introduction &amp; Project Objectives</a:t>
            </a:r>
            <a:endParaRPr lang="en-US" sz="2450" dirty="0"/>
          </a:p>
        </p:txBody>
      </p:sp>
      <p:sp>
        <p:nvSpPr>
          <p:cNvPr id="3" name="Shape 1"/>
          <p:cNvSpPr/>
          <p:nvPr/>
        </p:nvSpPr>
        <p:spPr>
          <a:xfrm>
            <a:off x="298624" y="1399356"/>
            <a:ext cx="4124102" cy="2344787"/>
          </a:xfrm>
          <a:prstGeom prst="roundRect">
            <a:avLst>
              <a:gd name="adj" fmla="val 12128"/>
            </a:avLst>
          </a:prstGeom>
          <a:solidFill>
            <a:srgbClr val="437066"/>
          </a:solidFill>
          <a:ln/>
        </p:spPr>
      </p:sp>
      <p:sp>
        <p:nvSpPr>
          <p:cNvPr id="4" name="Text 2"/>
          <p:cNvSpPr/>
          <p:nvPr/>
        </p:nvSpPr>
        <p:spPr>
          <a:xfrm>
            <a:off x="417091" y="1580333"/>
            <a:ext cx="2016175" cy="194816"/>
          </a:xfrm>
          <a:prstGeom prst="rect">
            <a:avLst/>
          </a:prstGeom>
          <a:noFill/>
          <a:ln/>
        </p:spPr>
        <p:txBody>
          <a:bodyPr wrap="none" lIns="0" tIns="0" rIns="0" bIns="0" rtlCol="0" anchor="t"/>
          <a:lstStyle/>
          <a:p>
            <a:pPr marL="0" indent="0" algn="l">
              <a:lnSpc>
                <a:spcPct val="104000"/>
              </a:lnSpc>
              <a:buNone/>
            </a:pPr>
            <a:r>
              <a:rPr lang="en-US" sz="1200" b="1" dirty="0">
                <a:solidFill>
                  <a:srgbClr val="FFFFFF"/>
                </a:solidFill>
                <a:latin typeface="Barlow Bold" pitchFamily="34" charset="0"/>
                <a:ea typeface="Barlow Bold" pitchFamily="34" charset="-122"/>
                <a:cs typeface="Barlow Bold" pitchFamily="34" charset="-120"/>
              </a:rPr>
              <a:t>What Is This Project?</a:t>
            </a:r>
            <a:endParaRPr lang="en-US" sz="1200" dirty="0"/>
          </a:p>
        </p:txBody>
      </p:sp>
      <p:sp>
        <p:nvSpPr>
          <p:cNvPr id="5" name="Text 3"/>
          <p:cNvSpPr/>
          <p:nvPr/>
        </p:nvSpPr>
        <p:spPr>
          <a:xfrm>
            <a:off x="417091" y="1886902"/>
            <a:ext cx="3887167" cy="947663"/>
          </a:xfrm>
          <a:prstGeom prst="rect">
            <a:avLst/>
          </a:prstGeom>
          <a:noFill/>
          <a:ln/>
        </p:spPr>
        <p:txBody>
          <a:bodyPr wrap="square" lIns="0" tIns="0" rIns="0" bIns="0" rtlCol="0" anchor="t">
            <a:noAutofit/>
          </a:bodyPr>
          <a:lstStyle/>
          <a:p>
            <a:pPr marL="0" indent="0" algn="just">
              <a:lnSpc>
                <a:spcPct val="133000"/>
              </a:lnSpc>
              <a:buNone/>
            </a:pPr>
            <a:r>
              <a:rPr lang="en-US" sz="1050" dirty="0">
                <a:solidFill>
                  <a:srgbClr val="FFFFFF"/>
                </a:solidFill>
                <a:latin typeface="Montserrat" pitchFamily="34" charset="0"/>
                <a:ea typeface="Montserrat" pitchFamily="34" charset="-122"/>
                <a:cs typeface="Montserrat" pitchFamily="34" charset="-120"/>
              </a:rPr>
              <a:t>The Hotel Management System is a database management project developed using Microsoft SQL Server. It manages hotel operations by maintaining records for customers, room bookings, reservations, room categories, and payments — simplifying hotel management through structured database design techniques.</a:t>
            </a:r>
            <a:endParaRPr lang="en-US" sz="1050" dirty="0"/>
          </a:p>
        </p:txBody>
      </p:sp>
      <p:sp>
        <p:nvSpPr>
          <p:cNvPr id="6" name="Text 4"/>
          <p:cNvSpPr/>
          <p:nvPr/>
        </p:nvSpPr>
        <p:spPr>
          <a:xfrm>
            <a:off x="4721274" y="1482925"/>
            <a:ext cx="2016175" cy="194816"/>
          </a:xfrm>
          <a:prstGeom prst="rect">
            <a:avLst/>
          </a:prstGeom>
          <a:noFill/>
          <a:ln/>
        </p:spPr>
        <p:txBody>
          <a:bodyPr wrap="none" lIns="0" tIns="0" rIns="0" bIns="0" rtlCol="0" anchor="t"/>
          <a:lstStyle/>
          <a:p>
            <a:pPr marL="0" indent="0" algn="l">
              <a:lnSpc>
                <a:spcPct val="104000"/>
              </a:lnSpc>
              <a:buNone/>
            </a:pPr>
            <a:r>
              <a:rPr lang="en-US" sz="1200" b="1" dirty="0">
                <a:solidFill>
                  <a:srgbClr val="2E3C4E"/>
                </a:solidFill>
                <a:latin typeface="Barlow Bold" pitchFamily="34" charset="0"/>
                <a:ea typeface="Barlow Bold" pitchFamily="34" charset="-122"/>
                <a:cs typeface="Barlow Bold" pitchFamily="34" charset="-120"/>
              </a:rPr>
              <a:t>Core Objectives</a:t>
            </a:r>
            <a:endParaRPr lang="en-US" sz="1200" dirty="0"/>
          </a:p>
        </p:txBody>
      </p:sp>
      <p:sp>
        <p:nvSpPr>
          <p:cNvPr id="7" name="Text 5"/>
          <p:cNvSpPr/>
          <p:nvPr/>
        </p:nvSpPr>
        <p:spPr>
          <a:xfrm>
            <a:off x="4665003" y="1792902"/>
            <a:ext cx="3953545" cy="1871588"/>
          </a:xfrm>
          <a:prstGeom prst="rect">
            <a:avLst/>
          </a:prstGeom>
          <a:noFill/>
          <a:ln/>
        </p:spPr>
        <p:txBody>
          <a:bodyPr wrap="square" lIns="0" tIns="0" rIns="0" bIns="0" rtlCol="0" anchor="t">
            <a:noAutofit/>
          </a:bodyPr>
          <a:lstStyle/>
          <a:p>
            <a:pPr marL="342900" indent="-342900" algn="just">
              <a:lnSpc>
                <a:spcPct val="133000"/>
              </a:lnSpc>
              <a:buSzPct val="100000"/>
              <a:buChar char="•"/>
            </a:pPr>
            <a:r>
              <a:rPr lang="en-US" sz="1050" dirty="0">
                <a:solidFill>
                  <a:srgbClr val="384653"/>
                </a:solidFill>
                <a:latin typeface="Montserrat" pitchFamily="34" charset="0"/>
                <a:ea typeface="Montserrat" pitchFamily="34" charset="-122"/>
                <a:cs typeface="Montserrat" pitchFamily="34" charset="-120"/>
              </a:rPr>
              <a:t>Handle customer details, room information, reservations, and payment records efficiently</a:t>
            </a:r>
            <a:endParaRPr lang="en-US" sz="1050" dirty="0"/>
          </a:p>
          <a:p>
            <a:pPr marL="342900" indent="-342900" algn="just">
              <a:lnSpc>
                <a:spcPct val="133000"/>
              </a:lnSpc>
              <a:buSzPct val="100000"/>
              <a:buChar char="•"/>
            </a:pPr>
            <a:r>
              <a:rPr lang="en-US" sz="1050" dirty="0">
                <a:solidFill>
                  <a:srgbClr val="384653"/>
                </a:solidFill>
                <a:latin typeface="Montserrat" pitchFamily="34" charset="0"/>
                <a:ea typeface="Montserrat" pitchFamily="34" charset="-122"/>
                <a:cs typeface="Montserrat" pitchFamily="34" charset="-120"/>
              </a:rPr>
              <a:t>Reduce data redundancy through normalization techniques</a:t>
            </a:r>
            <a:endParaRPr lang="en-US" sz="1050" dirty="0"/>
          </a:p>
          <a:p>
            <a:pPr marL="342900" indent="-342900" algn="just">
              <a:lnSpc>
                <a:spcPct val="133000"/>
              </a:lnSpc>
              <a:buSzPct val="100000"/>
              <a:buChar char="•"/>
            </a:pPr>
            <a:r>
              <a:rPr lang="en-US" sz="1050" dirty="0">
                <a:solidFill>
                  <a:srgbClr val="384653"/>
                </a:solidFill>
                <a:latin typeface="Montserrat" pitchFamily="34" charset="0"/>
                <a:ea typeface="Montserrat" pitchFamily="34" charset="-122"/>
                <a:cs typeface="Montserrat" pitchFamily="34" charset="-120"/>
              </a:rPr>
              <a:t>Implement CRUD operations, transactions, views, triggers, and functions</a:t>
            </a:r>
            <a:endParaRPr lang="en-US" sz="1050" dirty="0"/>
          </a:p>
          <a:p>
            <a:pPr marL="342900" indent="-342900" algn="just">
              <a:lnSpc>
                <a:spcPct val="133000"/>
              </a:lnSpc>
              <a:buSzPct val="100000"/>
              <a:buChar char="•"/>
            </a:pPr>
            <a:r>
              <a:rPr lang="en-US" sz="1050" dirty="0">
                <a:solidFill>
                  <a:srgbClr val="384653"/>
                </a:solidFill>
                <a:latin typeface="Montserrat" pitchFamily="34" charset="0"/>
                <a:ea typeface="Montserrat" pitchFamily="34" charset="-122"/>
                <a:cs typeface="Montserrat" pitchFamily="34" charset="-120"/>
              </a:rPr>
              <a:t>Ensure data consistency using primary keys and foreign key relationships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3943" y="999120"/>
            <a:ext cx="5288831" cy="389706"/>
          </a:xfrm>
          <a:prstGeom prst="rect">
            <a:avLst/>
          </a:prstGeom>
          <a:noFill/>
          <a:ln/>
        </p:spPr>
        <p:txBody>
          <a:bodyPr wrap="none" lIns="0" tIns="0" rIns="0" bIns="0" rtlCol="0" anchor="t"/>
          <a:lstStyle/>
          <a:p>
            <a:pPr marL="0" indent="0" algn="l">
              <a:lnSpc>
                <a:spcPct val="104000"/>
              </a:lnSpc>
              <a:buNone/>
            </a:pPr>
            <a:r>
              <a:rPr lang="en-US" sz="2450" b="1" dirty="0">
                <a:solidFill>
                  <a:srgbClr val="2E3C4E"/>
                </a:solidFill>
                <a:latin typeface="Barlow Bold" pitchFamily="34" charset="0"/>
                <a:ea typeface="Barlow Bold" pitchFamily="34" charset="-122"/>
                <a:cs typeface="Barlow Bold" pitchFamily="34" charset="-120"/>
              </a:rPr>
              <a:t>Technologies &amp; Database Overview</a:t>
            </a:r>
            <a:endParaRPr lang="en-US" sz="2450" dirty="0"/>
          </a:p>
        </p:txBody>
      </p:sp>
      <p:sp>
        <p:nvSpPr>
          <p:cNvPr id="3" name="Shape 1"/>
          <p:cNvSpPr/>
          <p:nvPr/>
        </p:nvSpPr>
        <p:spPr>
          <a:xfrm>
            <a:off x="473943" y="1820614"/>
            <a:ext cx="4038823" cy="910456"/>
          </a:xfrm>
          <a:prstGeom prst="roundRect">
            <a:avLst>
              <a:gd name="adj" fmla="val 19521"/>
            </a:avLst>
          </a:prstGeom>
          <a:solidFill>
            <a:srgbClr val="FFFFFF"/>
          </a:solidFill>
          <a:ln w="14288">
            <a:solidFill>
              <a:srgbClr val="BACFDD"/>
            </a:solidFill>
            <a:prstDash val="solid"/>
          </a:ln>
        </p:spPr>
      </p:sp>
      <p:sp>
        <p:nvSpPr>
          <p:cNvPr id="4" name="Text 2"/>
          <p:cNvSpPr/>
          <p:nvPr/>
        </p:nvSpPr>
        <p:spPr>
          <a:xfrm>
            <a:off x="606698" y="1953369"/>
            <a:ext cx="1558975"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Microsoft SQL Server</a:t>
            </a:r>
            <a:endParaRPr lang="en-US" sz="1200" dirty="0"/>
          </a:p>
        </p:txBody>
      </p:sp>
      <p:sp>
        <p:nvSpPr>
          <p:cNvPr id="5" name="Text 3"/>
          <p:cNvSpPr/>
          <p:nvPr/>
        </p:nvSpPr>
        <p:spPr>
          <a:xfrm>
            <a:off x="606698" y="2219251"/>
            <a:ext cx="3773314"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Primary database management system used for creating and managing all database objects, tables, and operations.</a:t>
            </a:r>
            <a:endParaRPr lang="en-US" sz="900" dirty="0"/>
          </a:p>
        </p:txBody>
      </p:sp>
      <p:sp>
        <p:nvSpPr>
          <p:cNvPr id="6" name="Shape 4"/>
          <p:cNvSpPr/>
          <p:nvPr/>
        </p:nvSpPr>
        <p:spPr>
          <a:xfrm>
            <a:off x="4631234" y="1820614"/>
            <a:ext cx="4038823" cy="910456"/>
          </a:xfrm>
          <a:prstGeom prst="roundRect">
            <a:avLst>
              <a:gd name="adj" fmla="val 19521"/>
            </a:avLst>
          </a:prstGeom>
          <a:solidFill>
            <a:srgbClr val="FFFFFF"/>
          </a:solidFill>
          <a:ln w="14288">
            <a:solidFill>
              <a:srgbClr val="BACFDD"/>
            </a:solidFill>
            <a:prstDash val="solid"/>
          </a:ln>
        </p:spPr>
      </p:sp>
      <p:sp>
        <p:nvSpPr>
          <p:cNvPr id="7" name="Text 5"/>
          <p:cNvSpPr/>
          <p:nvPr/>
        </p:nvSpPr>
        <p:spPr>
          <a:xfrm>
            <a:off x="4763988" y="1953369"/>
            <a:ext cx="2171254"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SQL Server Management Studio</a:t>
            </a:r>
            <a:endParaRPr lang="en-US" sz="1200" dirty="0"/>
          </a:p>
        </p:txBody>
      </p:sp>
      <p:sp>
        <p:nvSpPr>
          <p:cNvPr id="8" name="Text 6"/>
          <p:cNvSpPr/>
          <p:nvPr/>
        </p:nvSpPr>
        <p:spPr>
          <a:xfrm>
            <a:off x="4763988" y="2219251"/>
            <a:ext cx="3773314"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SSMS is used for query execution, database administration, and testing all SQL operations.</a:t>
            </a:r>
            <a:endParaRPr lang="en-US" sz="900" dirty="0"/>
          </a:p>
        </p:txBody>
      </p:sp>
      <p:sp>
        <p:nvSpPr>
          <p:cNvPr id="9" name="Shape 7"/>
          <p:cNvSpPr/>
          <p:nvPr/>
        </p:nvSpPr>
        <p:spPr>
          <a:xfrm>
            <a:off x="473943" y="2849538"/>
            <a:ext cx="4038823" cy="1099989"/>
          </a:xfrm>
          <a:prstGeom prst="roundRect">
            <a:avLst>
              <a:gd name="adj" fmla="val 16158"/>
            </a:avLst>
          </a:prstGeom>
          <a:solidFill>
            <a:srgbClr val="FFFFFF"/>
          </a:solidFill>
          <a:ln w="14288">
            <a:solidFill>
              <a:srgbClr val="BACFDD"/>
            </a:solidFill>
            <a:prstDash val="solid"/>
          </a:ln>
        </p:spPr>
      </p:sp>
      <p:sp>
        <p:nvSpPr>
          <p:cNvPr id="10" name="Text 8"/>
          <p:cNvSpPr/>
          <p:nvPr/>
        </p:nvSpPr>
        <p:spPr>
          <a:xfrm>
            <a:off x="606698" y="2982292"/>
            <a:ext cx="1558975"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dbdiagram.io</a:t>
            </a:r>
            <a:endParaRPr lang="en-US" sz="1200" dirty="0"/>
          </a:p>
        </p:txBody>
      </p:sp>
      <p:sp>
        <p:nvSpPr>
          <p:cNvPr id="11" name="Text 9"/>
          <p:cNvSpPr/>
          <p:nvPr/>
        </p:nvSpPr>
        <p:spPr>
          <a:xfrm>
            <a:off x="606698" y="3248174"/>
            <a:ext cx="3773314"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Used to design the ER Diagram, visually representing the database structure and table relationships.</a:t>
            </a:r>
            <a:endParaRPr lang="en-US" sz="900" dirty="0"/>
          </a:p>
        </p:txBody>
      </p:sp>
      <p:sp>
        <p:nvSpPr>
          <p:cNvPr id="12" name="Shape 10"/>
          <p:cNvSpPr/>
          <p:nvPr/>
        </p:nvSpPr>
        <p:spPr>
          <a:xfrm>
            <a:off x="4631234" y="2849538"/>
            <a:ext cx="4038823" cy="1099989"/>
          </a:xfrm>
          <a:prstGeom prst="roundRect">
            <a:avLst>
              <a:gd name="adj" fmla="val 16158"/>
            </a:avLst>
          </a:prstGeom>
          <a:solidFill>
            <a:srgbClr val="FFFFFF"/>
          </a:solidFill>
          <a:ln w="14288">
            <a:solidFill>
              <a:srgbClr val="BACFDD"/>
            </a:solidFill>
            <a:prstDash val="solid"/>
          </a:ln>
        </p:spPr>
      </p:sp>
      <p:sp>
        <p:nvSpPr>
          <p:cNvPr id="13" name="Text 11"/>
          <p:cNvSpPr/>
          <p:nvPr/>
        </p:nvSpPr>
        <p:spPr>
          <a:xfrm>
            <a:off x="4763988" y="2982292"/>
            <a:ext cx="1558975"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Database Name</a:t>
            </a:r>
            <a:endParaRPr lang="en-US" sz="1200" dirty="0"/>
          </a:p>
        </p:txBody>
      </p:sp>
      <p:sp>
        <p:nvSpPr>
          <p:cNvPr id="14" name="Text 12"/>
          <p:cNvSpPr/>
          <p:nvPr/>
        </p:nvSpPr>
        <p:spPr>
          <a:xfrm>
            <a:off x="4763988" y="3248174"/>
            <a:ext cx="3773314" cy="568598"/>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The database is named </a:t>
            </a:r>
            <a:r>
              <a:rPr lang="en-US" sz="900" b="1" dirty="0">
                <a:solidFill>
                  <a:srgbClr val="384653"/>
                </a:solidFill>
                <a:latin typeface="Montserrat" pitchFamily="34" charset="0"/>
                <a:ea typeface="Montserrat" pitchFamily="34" charset="-122"/>
                <a:cs typeface="Montserrat" pitchFamily="34" charset="-120"/>
              </a:rPr>
              <a:t>HotelManagementSystem</a:t>
            </a:r>
            <a:r>
              <a:rPr lang="en-US" sz="900" dirty="0">
                <a:solidFill>
                  <a:srgbClr val="384653"/>
                </a:solidFill>
                <a:latin typeface="Montserrat" pitchFamily="34" charset="0"/>
                <a:ea typeface="Montserrat" pitchFamily="34" charset="-122"/>
                <a:cs typeface="Montserrat" pitchFamily="34" charset="-120"/>
              </a:rPr>
              <a:t> and contains all tables, constraints, functions, views, triggers, indexes, and transactions.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3943" y="1044885"/>
            <a:ext cx="3575224" cy="389706"/>
          </a:xfrm>
          <a:prstGeom prst="rect">
            <a:avLst/>
          </a:prstGeom>
          <a:noFill/>
          <a:ln/>
        </p:spPr>
        <p:txBody>
          <a:bodyPr wrap="none" lIns="0" tIns="0" rIns="0" bIns="0" rtlCol="0" anchor="t"/>
          <a:lstStyle/>
          <a:p>
            <a:pPr marL="0" indent="0" algn="l">
              <a:lnSpc>
                <a:spcPct val="104000"/>
              </a:lnSpc>
              <a:buNone/>
            </a:pPr>
            <a:r>
              <a:rPr lang="en-US" sz="2450" b="1" dirty="0">
                <a:solidFill>
                  <a:srgbClr val="2E3C4E"/>
                </a:solidFill>
                <a:latin typeface="Barlow Bold" pitchFamily="34" charset="0"/>
                <a:ea typeface="Barlow Bold" pitchFamily="34" charset="-122"/>
                <a:cs typeface="Barlow Bold" pitchFamily="34" charset="-120"/>
              </a:rPr>
              <a:t>Modules of the System</a:t>
            </a:r>
            <a:endParaRPr lang="en-US" sz="2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3943" y="1939121"/>
            <a:ext cx="296168" cy="296168"/>
          </a:xfrm>
          <a:prstGeom prst="rect">
            <a:avLst/>
          </a:prstGeom>
        </p:spPr>
      </p:pic>
      <p:sp>
        <p:nvSpPr>
          <p:cNvPr id="4" name="Text 1"/>
          <p:cNvSpPr/>
          <p:nvPr/>
        </p:nvSpPr>
        <p:spPr>
          <a:xfrm>
            <a:off x="918195" y="1932087"/>
            <a:ext cx="1600349"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Customer Management</a:t>
            </a:r>
            <a:endParaRPr lang="en-US" sz="1200" dirty="0"/>
          </a:p>
        </p:txBody>
      </p:sp>
      <p:sp>
        <p:nvSpPr>
          <p:cNvPr id="5" name="Text 2"/>
          <p:cNvSpPr/>
          <p:nvPr/>
        </p:nvSpPr>
        <p:spPr>
          <a:xfrm>
            <a:off x="918195" y="2197968"/>
            <a:ext cx="2189038" cy="568598"/>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Stores customer information including name, phone number, email, and address.</a:t>
            </a:r>
            <a:endParaRPr lang="en-US" sz="9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5318" y="1932087"/>
            <a:ext cx="296168" cy="296168"/>
          </a:xfrm>
          <a:prstGeom prst="rect">
            <a:avLst/>
          </a:prstGeom>
        </p:spPr>
      </p:pic>
      <p:sp>
        <p:nvSpPr>
          <p:cNvPr id="7" name="Text 3"/>
          <p:cNvSpPr/>
          <p:nvPr/>
        </p:nvSpPr>
        <p:spPr>
          <a:xfrm>
            <a:off x="3699570" y="1932087"/>
            <a:ext cx="1558975"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Room Category</a:t>
            </a:r>
            <a:endParaRPr lang="en-US" sz="1200" dirty="0"/>
          </a:p>
        </p:txBody>
      </p:sp>
      <p:sp>
        <p:nvSpPr>
          <p:cNvPr id="8" name="Text 4"/>
          <p:cNvSpPr/>
          <p:nvPr/>
        </p:nvSpPr>
        <p:spPr>
          <a:xfrm>
            <a:off x="3699570" y="2197968"/>
            <a:ext cx="2189038"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Manages different categories of rooms and their pricing information.</a:t>
            </a:r>
            <a:endParaRPr lang="en-US" sz="9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36692" y="1932087"/>
            <a:ext cx="296168" cy="296168"/>
          </a:xfrm>
          <a:prstGeom prst="rect">
            <a:avLst/>
          </a:prstGeom>
        </p:spPr>
      </p:pic>
      <p:sp>
        <p:nvSpPr>
          <p:cNvPr id="10" name="Text 5"/>
          <p:cNvSpPr/>
          <p:nvPr/>
        </p:nvSpPr>
        <p:spPr>
          <a:xfrm>
            <a:off x="6480944" y="1932087"/>
            <a:ext cx="1558975"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Room Management</a:t>
            </a:r>
            <a:endParaRPr lang="en-US" sz="1200" dirty="0"/>
          </a:p>
        </p:txBody>
      </p:sp>
      <p:sp>
        <p:nvSpPr>
          <p:cNvPr id="11" name="Text 6"/>
          <p:cNvSpPr/>
          <p:nvPr/>
        </p:nvSpPr>
        <p:spPr>
          <a:xfrm>
            <a:off x="6480944" y="2197968"/>
            <a:ext cx="2189113"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Maintains room details and availability status across the hotel.</a:t>
            </a:r>
            <a:endParaRPr lang="en-US" sz="9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3943" y="3003500"/>
            <a:ext cx="296168" cy="296168"/>
          </a:xfrm>
          <a:prstGeom prst="rect">
            <a:avLst/>
          </a:prstGeom>
        </p:spPr>
      </p:pic>
      <p:sp>
        <p:nvSpPr>
          <p:cNvPr id="13" name="Text 7"/>
          <p:cNvSpPr/>
          <p:nvPr/>
        </p:nvSpPr>
        <p:spPr>
          <a:xfrm>
            <a:off x="918195" y="3003500"/>
            <a:ext cx="1754907"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Reservation Management</a:t>
            </a:r>
            <a:endParaRPr lang="en-US" sz="1200" dirty="0"/>
          </a:p>
        </p:txBody>
      </p:sp>
      <p:sp>
        <p:nvSpPr>
          <p:cNvPr id="14" name="Text 8"/>
          <p:cNvSpPr/>
          <p:nvPr/>
        </p:nvSpPr>
        <p:spPr>
          <a:xfrm>
            <a:off x="918195" y="3269382"/>
            <a:ext cx="2189038" cy="568598"/>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Handles customer bookings, check-in dates, check-out dates, and reservation status.</a:t>
            </a:r>
            <a:endParaRPr lang="en-US" sz="9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55318" y="3003500"/>
            <a:ext cx="296168" cy="296168"/>
          </a:xfrm>
          <a:prstGeom prst="rect">
            <a:avLst/>
          </a:prstGeom>
        </p:spPr>
      </p:pic>
      <p:sp>
        <p:nvSpPr>
          <p:cNvPr id="16" name="Text 9"/>
          <p:cNvSpPr/>
          <p:nvPr/>
        </p:nvSpPr>
        <p:spPr>
          <a:xfrm>
            <a:off x="3699570" y="3003500"/>
            <a:ext cx="1558975"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Payment Management</a:t>
            </a:r>
            <a:endParaRPr lang="en-US" sz="1200" dirty="0"/>
          </a:p>
        </p:txBody>
      </p:sp>
      <p:sp>
        <p:nvSpPr>
          <p:cNvPr id="17" name="Text 10"/>
          <p:cNvSpPr/>
          <p:nvPr/>
        </p:nvSpPr>
        <p:spPr>
          <a:xfrm>
            <a:off x="3699570" y="3269382"/>
            <a:ext cx="2189038"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Stores payment details related to customer reservations.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73943" y="784399"/>
            <a:ext cx="3575224" cy="389706"/>
          </a:xfrm>
          <a:prstGeom prst="rect">
            <a:avLst/>
          </a:prstGeom>
          <a:noFill/>
          <a:ln/>
        </p:spPr>
        <p:txBody>
          <a:bodyPr wrap="none" lIns="0" tIns="0" rIns="0" bIns="0" rtlCol="0" anchor="t"/>
          <a:lstStyle/>
          <a:p>
            <a:pPr marL="0" indent="0" algn="l">
              <a:lnSpc>
                <a:spcPct val="104000"/>
              </a:lnSpc>
              <a:buNone/>
            </a:pPr>
            <a:r>
              <a:rPr lang="en-US" sz="2450" b="1" dirty="0">
                <a:solidFill>
                  <a:srgbClr val="2E3C4E"/>
                </a:solidFill>
                <a:latin typeface="Barlow Bold" pitchFamily="34" charset="0"/>
                <a:ea typeface="Barlow Bold" pitchFamily="34" charset="-122"/>
                <a:cs typeface="Barlow Bold" pitchFamily="34" charset="-120"/>
              </a:rPr>
              <a:t>Database Tables</a:t>
            </a:r>
            <a:endParaRPr lang="en-US" sz="2450" dirty="0"/>
          </a:p>
        </p:txBody>
      </p:sp>
      <p:sp>
        <p:nvSpPr>
          <p:cNvPr id="3" name="Text 1"/>
          <p:cNvSpPr/>
          <p:nvPr/>
        </p:nvSpPr>
        <p:spPr>
          <a:xfrm>
            <a:off x="473943" y="1411039"/>
            <a:ext cx="8196114"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The </a:t>
            </a:r>
            <a:r>
              <a:rPr lang="en-US" sz="900" b="1" dirty="0">
                <a:solidFill>
                  <a:srgbClr val="384653"/>
                </a:solidFill>
                <a:latin typeface="Montserrat" pitchFamily="34" charset="0"/>
                <a:ea typeface="Montserrat" pitchFamily="34" charset="-122"/>
                <a:cs typeface="Montserrat" pitchFamily="34" charset="-120"/>
              </a:rPr>
              <a:t>HotelManagementSystem</a:t>
            </a:r>
            <a:r>
              <a:rPr lang="en-US" sz="900" dirty="0">
                <a:solidFill>
                  <a:srgbClr val="384653"/>
                </a:solidFill>
                <a:latin typeface="Montserrat" pitchFamily="34" charset="0"/>
                <a:ea typeface="Montserrat" pitchFamily="34" charset="-122"/>
                <a:cs typeface="Montserrat" pitchFamily="34" charset="-120"/>
              </a:rPr>
              <a:t> database consists of five core tables, each with a primary key for unique record identification and foreign keys to maintain referential integrity across the system.</a:t>
            </a:r>
            <a:endParaRPr lang="en-US" sz="900" dirty="0"/>
          </a:p>
        </p:txBody>
      </p:sp>
      <p:sp>
        <p:nvSpPr>
          <p:cNvPr id="4" name="Shape 2"/>
          <p:cNvSpPr/>
          <p:nvPr/>
        </p:nvSpPr>
        <p:spPr>
          <a:xfrm>
            <a:off x="473943" y="1923380"/>
            <a:ext cx="8196114" cy="2435721"/>
          </a:xfrm>
          <a:prstGeom prst="roundRect">
            <a:avLst>
              <a:gd name="adj" fmla="val 7297"/>
            </a:avLst>
          </a:prstGeom>
          <a:noFill/>
          <a:ln w="4763">
            <a:solidFill>
              <a:srgbClr val="000000">
                <a:alpha val="8000"/>
              </a:srgbClr>
            </a:solidFill>
            <a:prstDash val="solid"/>
          </a:ln>
        </p:spPr>
      </p:sp>
      <p:sp>
        <p:nvSpPr>
          <p:cNvPr id="5" name="Shape 3"/>
          <p:cNvSpPr/>
          <p:nvPr/>
        </p:nvSpPr>
        <p:spPr>
          <a:xfrm>
            <a:off x="478706" y="1928143"/>
            <a:ext cx="8186589" cy="341188"/>
          </a:xfrm>
          <a:prstGeom prst="rect">
            <a:avLst/>
          </a:prstGeom>
          <a:solidFill>
            <a:srgbClr val="FFFFFF">
              <a:alpha val="4000"/>
            </a:srgbClr>
          </a:solidFill>
          <a:ln/>
        </p:spPr>
      </p:sp>
      <p:sp>
        <p:nvSpPr>
          <p:cNvPr id="6" name="Text 4"/>
          <p:cNvSpPr/>
          <p:nvPr/>
        </p:nvSpPr>
        <p:spPr>
          <a:xfrm>
            <a:off x="597322" y="2003971"/>
            <a:ext cx="1855143" cy="189533"/>
          </a:xfrm>
          <a:prstGeom prst="rect">
            <a:avLst/>
          </a:prstGeom>
          <a:noFill/>
          <a:ln/>
        </p:spPr>
        <p:txBody>
          <a:bodyPr wrap="none" lIns="0" tIns="0" rIns="0" bIns="0" rtlCol="0" anchor="t"/>
          <a:lstStyle/>
          <a:p>
            <a:pPr marL="0" indent="0" algn="l">
              <a:lnSpc>
                <a:spcPct val="133000"/>
              </a:lnSpc>
              <a:buNone/>
            </a:pPr>
            <a:r>
              <a:rPr lang="en-US" sz="900" b="1" dirty="0">
                <a:solidFill>
                  <a:srgbClr val="384653"/>
                </a:solidFill>
                <a:latin typeface="Montserrat" pitchFamily="34" charset="0"/>
                <a:ea typeface="Montserrat" pitchFamily="34" charset="-122"/>
                <a:cs typeface="Montserrat" pitchFamily="34" charset="-120"/>
              </a:rPr>
              <a:t>Table</a:t>
            </a:r>
            <a:endParaRPr lang="en-US" sz="900" dirty="0"/>
          </a:p>
        </p:txBody>
      </p:sp>
      <p:sp>
        <p:nvSpPr>
          <p:cNvPr id="7" name="Text 5"/>
          <p:cNvSpPr/>
          <p:nvPr/>
        </p:nvSpPr>
        <p:spPr>
          <a:xfrm>
            <a:off x="2236961" y="2003971"/>
            <a:ext cx="2262113" cy="189533"/>
          </a:xfrm>
          <a:prstGeom prst="rect">
            <a:avLst/>
          </a:prstGeom>
          <a:noFill/>
          <a:ln/>
        </p:spPr>
        <p:txBody>
          <a:bodyPr wrap="none" lIns="0" tIns="0" rIns="0" bIns="0" rtlCol="0" anchor="t"/>
          <a:lstStyle/>
          <a:p>
            <a:pPr marL="0" indent="0" algn="l">
              <a:lnSpc>
                <a:spcPct val="133000"/>
              </a:lnSpc>
              <a:buNone/>
            </a:pPr>
            <a:r>
              <a:rPr lang="en-US" sz="900" b="1" dirty="0">
                <a:solidFill>
                  <a:srgbClr val="384653"/>
                </a:solidFill>
                <a:latin typeface="Montserrat" pitchFamily="34" charset="0"/>
                <a:ea typeface="Montserrat" pitchFamily="34" charset="-122"/>
                <a:cs typeface="Montserrat" pitchFamily="34" charset="-120"/>
              </a:rPr>
              <a:t>Primary Key</a:t>
            </a:r>
            <a:endParaRPr lang="en-US" sz="900" dirty="0"/>
          </a:p>
        </p:txBody>
      </p:sp>
      <p:sp>
        <p:nvSpPr>
          <p:cNvPr id="8" name="Text 6"/>
          <p:cNvSpPr/>
          <p:nvPr/>
        </p:nvSpPr>
        <p:spPr>
          <a:xfrm>
            <a:off x="4283571" y="2003971"/>
            <a:ext cx="2671465" cy="189533"/>
          </a:xfrm>
          <a:prstGeom prst="rect">
            <a:avLst/>
          </a:prstGeom>
          <a:noFill/>
          <a:ln/>
        </p:spPr>
        <p:txBody>
          <a:bodyPr wrap="none" lIns="0" tIns="0" rIns="0" bIns="0" rtlCol="0" anchor="t"/>
          <a:lstStyle/>
          <a:p>
            <a:pPr marL="0" indent="0" algn="l">
              <a:lnSpc>
                <a:spcPct val="133000"/>
              </a:lnSpc>
              <a:buNone/>
            </a:pPr>
            <a:r>
              <a:rPr lang="en-US" sz="900" b="1" dirty="0">
                <a:solidFill>
                  <a:srgbClr val="384653"/>
                </a:solidFill>
                <a:latin typeface="Montserrat" pitchFamily="34" charset="0"/>
                <a:ea typeface="Montserrat" pitchFamily="34" charset="-122"/>
                <a:cs typeface="Montserrat" pitchFamily="34" charset="-120"/>
              </a:rPr>
              <a:t>Key Attributes</a:t>
            </a:r>
            <a:endParaRPr lang="en-US" sz="900" dirty="0"/>
          </a:p>
        </p:txBody>
      </p:sp>
      <p:sp>
        <p:nvSpPr>
          <p:cNvPr id="9" name="Text 7"/>
          <p:cNvSpPr/>
          <p:nvPr/>
        </p:nvSpPr>
        <p:spPr>
          <a:xfrm>
            <a:off x="6739533" y="2003971"/>
            <a:ext cx="2264494" cy="189533"/>
          </a:xfrm>
          <a:prstGeom prst="rect">
            <a:avLst/>
          </a:prstGeom>
          <a:noFill/>
          <a:ln/>
        </p:spPr>
        <p:txBody>
          <a:bodyPr wrap="none" lIns="0" tIns="0" rIns="0" bIns="0" rtlCol="0" anchor="t"/>
          <a:lstStyle/>
          <a:p>
            <a:pPr marL="0" indent="0" algn="l">
              <a:lnSpc>
                <a:spcPct val="133000"/>
              </a:lnSpc>
              <a:buNone/>
            </a:pPr>
            <a:r>
              <a:rPr lang="en-US" sz="900" b="1" dirty="0">
                <a:solidFill>
                  <a:srgbClr val="384653"/>
                </a:solidFill>
                <a:latin typeface="Montserrat" pitchFamily="34" charset="0"/>
                <a:ea typeface="Montserrat" pitchFamily="34" charset="-122"/>
                <a:cs typeface="Montserrat" pitchFamily="34" charset="-120"/>
              </a:rPr>
              <a:t>Foreign Key</a:t>
            </a:r>
            <a:endParaRPr lang="en-US" sz="900" dirty="0"/>
          </a:p>
        </p:txBody>
      </p:sp>
      <p:sp>
        <p:nvSpPr>
          <p:cNvPr id="10" name="Shape 8"/>
          <p:cNvSpPr/>
          <p:nvPr/>
        </p:nvSpPr>
        <p:spPr>
          <a:xfrm>
            <a:off x="478706" y="2269331"/>
            <a:ext cx="8186589" cy="341188"/>
          </a:xfrm>
          <a:prstGeom prst="rect">
            <a:avLst/>
          </a:prstGeom>
          <a:solidFill>
            <a:srgbClr val="000000">
              <a:alpha val="4000"/>
            </a:srgbClr>
          </a:solidFill>
          <a:ln/>
        </p:spPr>
      </p:sp>
      <p:sp>
        <p:nvSpPr>
          <p:cNvPr id="11" name="Text 9"/>
          <p:cNvSpPr/>
          <p:nvPr/>
        </p:nvSpPr>
        <p:spPr>
          <a:xfrm>
            <a:off x="597322" y="2345159"/>
            <a:ext cx="185514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Customers</a:t>
            </a:r>
            <a:endParaRPr lang="en-US" sz="900" dirty="0"/>
          </a:p>
        </p:txBody>
      </p:sp>
      <p:sp>
        <p:nvSpPr>
          <p:cNvPr id="12" name="Text 10"/>
          <p:cNvSpPr/>
          <p:nvPr/>
        </p:nvSpPr>
        <p:spPr>
          <a:xfrm>
            <a:off x="2236961" y="2345159"/>
            <a:ext cx="226211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CustomerID</a:t>
            </a:r>
            <a:endParaRPr lang="en-US" sz="900" dirty="0"/>
          </a:p>
        </p:txBody>
      </p:sp>
      <p:sp>
        <p:nvSpPr>
          <p:cNvPr id="13" name="Text 11"/>
          <p:cNvSpPr/>
          <p:nvPr/>
        </p:nvSpPr>
        <p:spPr>
          <a:xfrm>
            <a:off x="4283571" y="2345159"/>
            <a:ext cx="2671465"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FullName, Phone, Email, Address</a:t>
            </a:r>
            <a:endParaRPr lang="en-US" sz="900" dirty="0"/>
          </a:p>
        </p:txBody>
      </p:sp>
      <p:sp>
        <p:nvSpPr>
          <p:cNvPr id="14" name="Text 12"/>
          <p:cNvSpPr/>
          <p:nvPr/>
        </p:nvSpPr>
        <p:spPr>
          <a:xfrm>
            <a:off x="6739533" y="2345159"/>
            <a:ext cx="2264494"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a:t>
            </a:r>
            <a:endParaRPr lang="en-US" sz="900" dirty="0"/>
          </a:p>
        </p:txBody>
      </p:sp>
      <p:sp>
        <p:nvSpPr>
          <p:cNvPr id="15" name="Shape 13"/>
          <p:cNvSpPr/>
          <p:nvPr/>
        </p:nvSpPr>
        <p:spPr>
          <a:xfrm>
            <a:off x="478706" y="2610520"/>
            <a:ext cx="8186589" cy="341188"/>
          </a:xfrm>
          <a:prstGeom prst="rect">
            <a:avLst/>
          </a:prstGeom>
          <a:solidFill>
            <a:srgbClr val="FFFFFF">
              <a:alpha val="4000"/>
            </a:srgbClr>
          </a:solidFill>
          <a:ln/>
        </p:spPr>
      </p:sp>
      <p:sp>
        <p:nvSpPr>
          <p:cNvPr id="16" name="Text 14"/>
          <p:cNvSpPr/>
          <p:nvPr/>
        </p:nvSpPr>
        <p:spPr>
          <a:xfrm>
            <a:off x="597322" y="2686348"/>
            <a:ext cx="185514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RoomCategory</a:t>
            </a:r>
            <a:endParaRPr lang="en-US" sz="900" dirty="0"/>
          </a:p>
        </p:txBody>
      </p:sp>
      <p:sp>
        <p:nvSpPr>
          <p:cNvPr id="17" name="Text 15"/>
          <p:cNvSpPr/>
          <p:nvPr/>
        </p:nvSpPr>
        <p:spPr>
          <a:xfrm>
            <a:off x="2236961" y="2686348"/>
            <a:ext cx="226211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CategoryID</a:t>
            </a:r>
            <a:endParaRPr lang="en-US" sz="900" dirty="0"/>
          </a:p>
        </p:txBody>
      </p:sp>
      <p:sp>
        <p:nvSpPr>
          <p:cNvPr id="18" name="Text 16"/>
          <p:cNvSpPr/>
          <p:nvPr/>
        </p:nvSpPr>
        <p:spPr>
          <a:xfrm>
            <a:off x="4283571" y="2686348"/>
            <a:ext cx="2671465"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CategoryName, PricePerNight</a:t>
            </a:r>
            <a:endParaRPr lang="en-US" sz="900" dirty="0"/>
          </a:p>
        </p:txBody>
      </p:sp>
      <p:sp>
        <p:nvSpPr>
          <p:cNvPr id="19" name="Text 17"/>
          <p:cNvSpPr/>
          <p:nvPr/>
        </p:nvSpPr>
        <p:spPr>
          <a:xfrm>
            <a:off x="6739533" y="2686348"/>
            <a:ext cx="2264494"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a:t>
            </a:r>
            <a:endParaRPr lang="en-US" sz="900" dirty="0"/>
          </a:p>
        </p:txBody>
      </p:sp>
      <p:sp>
        <p:nvSpPr>
          <p:cNvPr id="20" name="Shape 18"/>
          <p:cNvSpPr/>
          <p:nvPr/>
        </p:nvSpPr>
        <p:spPr>
          <a:xfrm>
            <a:off x="478706" y="2951708"/>
            <a:ext cx="8186589" cy="341188"/>
          </a:xfrm>
          <a:prstGeom prst="rect">
            <a:avLst/>
          </a:prstGeom>
          <a:solidFill>
            <a:srgbClr val="000000">
              <a:alpha val="4000"/>
            </a:srgbClr>
          </a:solidFill>
          <a:ln/>
        </p:spPr>
      </p:sp>
      <p:sp>
        <p:nvSpPr>
          <p:cNvPr id="21" name="Text 19"/>
          <p:cNvSpPr/>
          <p:nvPr/>
        </p:nvSpPr>
        <p:spPr>
          <a:xfrm>
            <a:off x="597322" y="3027536"/>
            <a:ext cx="185514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Rooms</a:t>
            </a:r>
            <a:endParaRPr lang="en-US" sz="900" dirty="0"/>
          </a:p>
        </p:txBody>
      </p:sp>
      <p:sp>
        <p:nvSpPr>
          <p:cNvPr id="22" name="Text 20"/>
          <p:cNvSpPr/>
          <p:nvPr/>
        </p:nvSpPr>
        <p:spPr>
          <a:xfrm>
            <a:off x="2236961" y="3027536"/>
            <a:ext cx="226211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RoomID</a:t>
            </a:r>
            <a:endParaRPr lang="en-US" sz="900" dirty="0"/>
          </a:p>
        </p:txBody>
      </p:sp>
      <p:sp>
        <p:nvSpPr>
          <p:cNvPr id="23" name="Text 21"/>
          <p:cNvSpPr/>
          <p:nvPr/>
        </p:nvSpPr>
        <p:spPr>
          <a:xfrm>
            <a:off x="4283571" y="3027536"/>
            <a:ext cx="2671465"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RoomNumber, Status</a:t>
            </a:r>
            <a:endParaRPr lang="en-US" sz="900" dirty="0"/>
          </a:p>
        </p:txBody>
      </p:sp>
      <p:sp>
        <p:nvSpPr>
          <p:cNvPr id="24" name="Text 22"/>
          <p:cNvSpPr/>
          <p:nvPr/>
        </p:nvSpPr>
        <p:spPr>
          <a:xfrm>
            <a:off x="6739533" y="3027536"/>
            <a:ext cx="2264494"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CategoryID → RoomCategory</a:t>
            </a:r>
            <a:endParaRPr lang="en-US" sz="900" dirty="0"/>
          </a:p>
        </p:txBody>
      </p:sp>
      <p:sp>
        <p:nvSpPr>
          <p:cNvPr id="25" name="Shape 23"/>
          <p:cNvSpPr/>
          <p:nvPr/>
        </p:nvSpPr>
        <p:spPr>
          <a:xfrm>
            <a:off x="478706" y="3292897"/>
            <a:ext cx="8186589" cy="530721"/>
          </a:xfrm>
          <a:prstGeom prst="rect">
            <a:avLst/>
          </a:prstGeom>
          <a:solidFill>
            <a:srgbClr val="FFFFFF">
              <a:alpha val="4000"/>
            </a:srgbClr>
          </a:solidFill>
          <a:ln/>
        </p:spPr>
      </p:sp>
      <p:sp>
        <p:nvSpPr>
          <p:cNvPr id="26" name="Text 24"/>
          <p:cNvSpPr/>
          <p:nvPr/>
        </p:nvSpPr>
        <p:spPr>
          <a:xfrm>
            <a:off x="597322" y="3368725"/>
            <a:ext cx="185514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Reservations</a:t>
            </a:r>
            <a:endParaRPr lang="en-US" sz="900" dirty="0"/>
          </a:p>
        </p:txBody>
      </p:sp>
      <p:sp>
        <p:nvSpPr>
          <p:cNvPr id="27" name="Text 25"/>
          <p:cNvSpPr/>
          <p:nvPr/>
        </p:nvSpPr>
        <p:spPr>
          <a:xfrm>
            <a:off x="2236961" y="3368725"/>
            <a:ext cx="226211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ReservationID</a:t>
            </a:r>
            <a:endParaRPr lang="en-US" sz="900" dirty="0"/>
          </a:p>
        </p:txBody>
      </p:sp>
      <p:sp>
        <p:nvSpPr>
          <p:cNvPr id="28" name="Text 26"/>
          <p:cNvSpPr/>
          <p:nvPr/>
        </p:nvSpPr>
        <p:spPr>
          <a:xfrm>
            <a:off x="4283571" y="3368725"/>
            <a:ext cx="2214265"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CheckInDate, CheckOutDate, ReservationStatus</a:t>
            </a:r>
            <a:endParaRPr lang="en-US" sz="900" dirty="0"/>
          </a:p>
        </p:txBody>
      </p:sp>
      <p:sp>
        <p:nvSpPr>
          <p:cNvPr id="29" name="Text 27"/>
          <p:cNvSpPr/>
          <p:nvPr/>
        </p:nvSpPr>
        <p:spPr>
          <a:xfrm>
            <a:off x="6739533" y="3368725"/>
            <a:ext cx="1807294"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CustomerID → Customers, RoomID → Rooms</a:t>
            </a:r>
            <a:endParaRPr lang="en-US" sz="900" dirty="0"/>
          </a:p>
        </p:txBody>
      </p:sp>
      <p:sp>
        <p:nvSpPr>
          <p:cNvPr id="30" name="Shape 28"/>
          <p:cNvSpPr/>
          <p:nvPr/>
        </p:nvSpPr>
        <p:spPr>
          <a:xfrm>
            <a:off x="478706" y="3823618"/>
            <a:ext cx="8186589" cy="530721"/>
          </a:xfrm>
          <a:prstGeom prst="rect">
            <a:avLst/>
          </a:prstGeom>
          <a:solidFill>
            <a:srgbClr val="000000">
              <a:alpha val="4000"/>
            </a:srgbClr>
          </a:solidFill>
          <a:ln/>
        </p:spPr>
      </p:sp>
      <p:sp>
        <p:nvSpPr>
          <p:cNvPr id="31" name="Text 29"/>
          <p:cNvSpPr/>
          <p:nvPr/>
        </p:nvSpPr>
        <p:spPr>
          <a:xfrm>
            <a:off x="597322" y="3899446"/>
            <a:ext cx="185514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Payments</a:t>
            </a:r>
            <a:endParaRPr lang="en-US" sz="900" dirty="0"/>
          </a:p>
        </p:txBody>
      </p:sp>
      <p:sp>
        <p:nvSpPr>
          <p:cNvPr id="32" name="Text 30"/>
          <p:cNvSpPr/>
          <p:nvPr/>
        </p:nvSpPr>
        <p:spPr>
          <a:xfrm>
            <a:off x="2236961" y="3899446"/>
            <a:ext cx="2262113"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PaymentID</a:t>
            </a:r>
            <a:endParaRPr lang="en-US" sz="900" dirty="0"/>
          </a:p>
        </p:txBody>
      </p:sp>
      <p:sp>
        <p:nvSpPr>
          <p:cNvPr id="33" name="Text 31"/>
          <p:cNvSpPr/>
          <p:nvPr/>
        </p:nvSpPr>
        <p:spPr>
          <a:xfrm>
            <a:off x="4283571" y="3899446"/>
            <a:ext cx="2214265"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Amount, PaymentDate, PaymentMethod</a:t>
            </a:r>
            <a:endParaRPr lang="en-US" sz="900" dirty="0"/>
          </a:p>
        </p:txBody>
      </p:sp>
      <p:sp>
        <p:nvSpPr>
          <p:cNvPr id="34" name="Text 32"/>
          <p:cNvSpPr/>
          <p:nvPr/>
        </p:nvSpPr>
        <p:spPr>
          <a:xfrm>
            <a:off x="6739533" y="3899446"/>
            <a:ext cx="2264494"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ReservationID → Reservations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9656" y="858238"/>
            <a:ext cx="5090517" cy="389706"/>
          </a:xfrm>
          <a:prstGeom prst="rect">
            <a:avLst/>
          </a:prstGeom>
          <a:noFill/>
          <a:ln/>
        </p:spPr>
        <p:txBody>
          <a:bodyPr wrap="none" lIns="0" tIns="0" rIns="0" bIns="0" rtlCol="0" anchor="t"/>
          <a:lstStyle/>
          <a:p>
            <a:pPr marL="0" indent="0" algn="l">
              <a:lnSpc>
                <a:spcPct val="104000"/>
              </a:lnSpc>
              <a:buNone/>
            </a:pPr>
            <a:r>
              <a:rPr lang="en-US" sz="2450" b="1" dirty="0">
                <a:solidFill>
                  <a:srgbClr val="2E3C4E"/>
                </a:solidFill>
                <a:latin typeface="Barlow Bold" pitchFamily="34" charset="0"/>
                <a:ea typeface="Barlow Bold" pitchFamily="34" charset="-122"/>
                <a:cs typeface="Barlow Bold" pitchFamily="34" charset="-120"/>
              </a:rPr>
              <a:t>ER Diagram &amp; Table Relationships</a:t>
            </a:r>
            <a:endParaRPr lang="en-US" sz="2450" dirty="0"/>
          </a:p>
        </p:txBody>
      </p:sp>
      <p:sp>
        <p:nvSpPr>
          <p:cNvPr id="3" name="Text 1"/>
          <p:cNvSpPr/>
          <p:nvPr/>
        </p:nvSpPr>
        <p:spPr>
          <a:xfrm>
            <a:off x="473943" y="1498365"/>
            <a:ext cx="8196114"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The ER Diagram visually represents the database structure, showing all entities, attributes, primary keys, foreign keys, and relationships. Cardinality symbols indicate relationship types: </a:t>
            </a:r>
            <a:r>
              <a:rPr lang="en-US" sz="900" b="1" dirty="0">
                <a:solidFill>
                  <a:srgbClr val="384653"/>
                </a:solidFill>
                <a:latin typeface="Montserrat" pitchFamily="34" charset="0"/>
                <a:ea typeface="Montserrat" pitchFamily="34" charset="-122"/>
                <a:cs typeface="Montserrat" pitchFamily="34" charset="-120"/>
              </a:rPr>
              <a:t>0..1</a:t>
            </a:r>
            <a:r>
              <a:rPr lang="en-US" sz="900" dirty="0">
                <a:solidFill>
                  <a:srgbClr val="384653"/>
                </a:solidFill>
                <a:latin typeface="Montserrat" pitchFamily="34" charset="0"/>
                <a:ea typeface="Montserrat" pitchFamily="34" charset="-122"/>
                <a:cs typeface="Montserrat" pitchFamily="34" charset="-120"/>
              </a:rPr>
              <a:t> represents zero or one occurrence, while </a:t>
            </a:r>
            <a:r>
              <a:rPr lang="en-US" sz="900" b="1" dirty="0">
                <a:solidFill>
                  <a:srgbClr val="384653"/>
                </a:solidFill>
                <a:latin typeface="Montserrat" pitchFamily="34" charset="0"/>
                <a:ea typeface="Montserrat" pitchFamily="34" charset="-122"/>
                <a:cs typeface="Montserrat" pitchFamily="34" charset="-120"/>
              </a:rPr>
              <a:t>*</a:t>
            </a:r>
            <a:r>
              <a:rPr lang="en-US" sz="900" dirty="0">
                <a:solidFill>
                  <a:srgbClr val="384653"/>
                </a:solidFill>
                <a:latin typeface="Montserrat" pitchFamily="34" charset="0"/>
                <a:ea typeface="Montserrat" pitchFamily="34" charset="-122"/>
                <a:cs typeface="Montserrat" pitchFamily="34" charset="-120"/>
              </a:rPr>
              <a:t> represents many occurrences.</a:t>
            </a:r>
            <a:endParaRPr lang="en-US" sz="900" dirty="0"/>
          </a:p>
        </p:txBody>
      </p:sp>
      <p:sp>
        <p:nvSpPr>
          <p:cNvPr id="4" name="Shape 2"/>
          <p:cNvSpPr/>
          <p:nvPr/>
        </p:nvSpPr>
        <p:spPr>
          <a:xfrm>
            <a:off x="473943" y="2266280"/>
            <a:ext cx="4038823" cy="720923"/>
          </a:xfrm>
          <a:prstGeom prst="roundRect">
            <a:avLst>
              <a:gd name="adj" fmla="val 9513"/>
            </a:avLst>
          </a:prstGeom>
          <a:solidFill>
            <a:srgbClr val="FFFFFF"/>
          </a:solidFill>
          <a:ln w="14288">
            <a:solidFill>
              <a:srgbClr val="BACFDD"/>
            </a:solidFill>
            <a:prstDash val="solid"/>
          </a:ln>
        </p:spPr>
      </p:sp>
      <p:pic>
        <p:nvPicPr>
          <p:cNvPr id="5" name="Image 0" descr="preencoded.png"/>
          <p:cNvPicPr>
            <a:picLocks noChangeAspect="1"/>
          </p:cNvPicPr>
          <p:nvPr/>
        </p:nvPicPr>
        <p:blipFill>
          <a:blip r:embed="rId3"/>
          <a:stretch>
            <a:fillRect/>
          </a:stretch>
        </p:blipFill>
        <p:spPr>
          <a:xfrm>
            <a:off x="459656" y="2266280"/>
            <a:ext cx="57150" cy="720923"/>
          </a:xfrm>
          <a:prstGeom prst="rect">
            <a:avLst/>
          </a:prstGeom>
        </p:spPr>
      </p:pic>
      <p:sp>
        <p:nvSpPr>
          <p:cNvPr id="6" name="Text 3"/>
          <p:cNvSpPr/>
          <p:nvPr/>
        </p:nvSpPr>
        <p:spPr>
          <a:xfrm>
            <a:off x="649560" y="2399035"/>
            <a:ext cx="1724397"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RoomCategory → Rooms</a:t>
            </a:r>
            <a:endParaRPr lang="en-US" sz="1200" dirty="0"/>
          </a:p>
        </p:txBody>
      </p:sp>
      <p:sp>
        <p:nvSpPr>
          <p:cNvPr id="7" name="Text 4"/>
          <p:cNvSpPr/>
          <p:nvPr/>
        </p:nvSpPr>
        <p:spPr>
          <a:xfrm>
            <a:off x="649560" y="2664916"/>
            <a:ext cx="3730451"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One room category can contain multiple rooms (one-to-many).</a:t>
            </a:r>
            <a:endParaRPr lang="en-US" sz="900" dirty="0"/>
          </a:p>
        </p:txBody>
      </p:sp>
      <p:sp>
        <p:nvSpPr>
          <p:cNvPr id="8" name="Shape 5"/>
          <p:cNvSpPr/>
          <p:nvPr/>
        </p:nvSpPr>
        <p:spPr>
          <a:xfrm>
            <a:off x="4631234" y="2266280"/>
            <a:ext cx="4038823" cy="720923"/>
          </a:xfrm>
          <a:prstGeom prst="roundRect">
            <a:avLst>
              <a:gd name="adj" fmla="val 9513"/>
            </a:avLst>
          </a:prstGeom>
          <a:solidFill>
            <a:srgbClr val="FFFFFF"/>
          </a:solidFill>
          <a:ln w="14288">
            <a:solidFill>
              <a:srgbClr val="BACFDD"/>
            </a:solidFill>
            <a:prstDash val="solid"/>
          </a:ln>
        </p:spPr>
      </p:sp>
      <p:pic>
        <p:nvPicPr>
          <p:cNvPr id="9" name="Image 1" descr="preencoded.png"/>
          <p:cNvPicPr>
            <a:picLocks noChangeAspect="1"/>
          </p:cNvPicPr>
          <p:nvPr/>
        </p:nvPicPr>
        <p:blipFill>
          <a:blip r:embed="rId3"/>
          <a:stretch>
            <a:fillRect/>
          </a:stretch>
        </p:blipFill>
        <p:spPr>
          <a:xfrm>
            <a:off x="4616946" y="2266280"/>
            <a:ext cx="57150" cy="720923"/>
          </a:xfrm>
          <a:prstGeom prst="rect">
            <a:avLst/>
          </a:prstGeom>
        </p:spPr>
      </p:pic>
      <p:sp>
        <p:nvSpPr>
          <p:cNvPr id="10" name="Text 6"/>
          <p:cNvSpPr/>
          <p:nvPr/>
        </p:nvSpPr>
        <p:spPr>
          <a:xfrm>
            <a:off x="4806851" y="2399035"/>
            <a:ext cx="1882080"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Customers → Reservations</a:t>
            </a:r>
            <a:endParaRPr lang="en-US" sz="1200" dirty="0"/>
          </a:p>
        </p:txBody>
      </p:sp>
      <p:sp>
        <p:nvSpPr>
          <p:cNvPr id="11" name="Text 7"/>
          <p:cNvSpPr/>
          <p:nvPr/>
        </p:nvSpPr>
        <p:spPr>
          <a:xfrm>
            <a:off x="4806851" y="2664916"/>
            <a:ext cx="3730451"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One customer can make multiple reservations over time.</a:t>
            </a:r>
            <a:endParaRPr lang="en-US" sz="900" dirty="0"/>
          </a:p>
        </p:txBody>
      </p:sp>
      <p:sp>
        <p:nvSpPr>
          <p:cNvPr id="12" name="Shape 8"/>
          <p:cNvSpPr/>
          <p:nvPr/>
        </p:nvSpPr>
        <p:spPr>
          <a:xfrm>
            <a:off x="473943" y="3105671"/>
            <a:ext cx="4038823" cy="910456"/>
          </a:xfrm>
          <a:prstGeom prst="roundRect">
            <a:avLst>
              <a:gd name="adj" fmla="val 7532"/>
            </a:avLst>
          </a:prstGeom>
          <a:solidFill>
            <a:srgbClr val="FFFFFF"/>
          </a:solidFill>
          <a:ln w="14288">
            <a:solidFill>
              <a:srgbClr val="BACFDD"/>
            </a:solidFill>
            <a:prstDash val="solid"/>
          </a:ln>
        </p:spPr>
      </p:sp>
      <p:pic>
        <p:nvPicPr>
          <p:cNvPr id="13" name="Image 2" descr="preencoded.png"/>
          <p:cNvPicPr>
            <a:picLocks noChangeAspect="1"/>
          </p:cNvPicPr>
          <p:nvPr/>
        </p:nvPicPr>
        <p:blipFill>
          <a:blip r:embed="rId4"/>
          <a:stretch>
            <a:fillRect/>
          </a:stretch>
        </p:blipFill>
        <p:spPr>
          <a:xfrm>
            <a:off x="459656" y="3105671"/>
            <a:ext cx="57150" cy="910456"/>
          </a:xfrm>
          <a:prstGeom prst="rect">
            <a:avLst/>
          </a:prstGeom>
        </p:spPr>
      </p:pic>
      <p:sp>
        <p:nvSpPr>
          <p:cNvPr id="14" name="Text 9"/>
          <p:cNvSpPr/>
          <p:nvPr/>
        </p:nvSpPr>
        <p:spPr>
          <a:xfrm>
            <a:off x="649560" y="3238426"/>
            <a:ext cx="1604516"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Rooms → Reservations</a:t>
            </a:r>
            <a:endParaRPr lang="en-US" sz="1200" dirty="0"/>
          </a:p>
        </p:txBody>
      </p:sp>
      <p:sp>
        <p:nvSpPr>
          <p:cNvPr id="15" name="Text 10"/>
          <p:cNvSpPr/>
          <p:nvPr/>
        </p:nvSpPr>
        <p:spPr>
          <a:xfrm>
            <a:off x="649560" y="3504307"/>
            <a:ext cx="3730451" cy="379065"/>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One room can appear in multiple reservations across different time periods.</a:t>
            </a:r>
            <a:endParaRPr lang="en-US" sz="900" dirty="0"/>
          </a:p>
        </p:txBody>
      </p:sp>
      <p:sp>
        <p:nvSpPr>
          <p:cNvPr id="16" name="Shape 11"/>
          <p:cNvSpPr/>
          <p:nvPr/>
        </p:nvSpPr>
        <p:spPr>
          <a:xfrm>
            <a:off x="4631234" y="3105671"/>
            <a:ext cx="4038823" cy="910456"/>
          </a:xfrm>
          <a:prstGeom prst="roundRect">
            <a:avLst>
              <a:gd name="adj" fmla="val 7532"/>
            </a:avLst>
          </a:prstGeom>
          <a:solidFill>
            <a:srgbClr val="FFFFFF"/>
          </a:solidFill>
          <a:ln w="14288">
            <a:solidFill>
              <a:srgbClr val="BACFDD"/>
            </a:solidFill>
            <a:prstDash val="solid"/>
          </a:ln>
        </p:spPr>
      </p:sp>
      <p:pic>
        <p:nvPicPr>
          <p:cNvPr id="17" name="Image 3" descr="preencoded.png"/>
          <p:cNvPicPr>
            <a:picLocks noChangeAspect="1"/>
          </p:cNvPicPr>
          <p:nvPr/>
        </p:nvPicPr>
        <p:blipFill>
          <a:blip r:embed="rId4"/>
          <a:stretch>
            <a:fillRect/>
          </a:stretch>
        </p:blipFill>
        <p:spPr>
          <a:xfrm>
            <a:off x="4616946" y="3105671"/>
            <a:ext cx="57150" cy="910456"/>
          </a:xfrm>
          <a:prstGeom prst="rect">
            <a:avLst/>
          </a:prstGeom>
        </p:spPr>
      </p:pic>
      <p:sp>
        <p:nvSpPr>
          <p:cNvPr id="18" name="Text 12"/>
          <p:cNvSpPr/>
          <p:nvPr/>
        </p:nvSpPr>
        <p:spPr>
          <a:xfrm>
            <a:off x="4806851" y="3238426"/>
            <a:ext cx="1816001" cy="194816"/>
          </a:xfrm>
          <a:prstGeom prst="rect">
            <a:avLst/>
          </a:prstGeom>
          <a:noFill/>
          <a:ln/>
        </p:spPr>
        <p:txBody>
          <a:bodyPr wrap="none" lIns="0" tIns="0" rIns="0" bIns="0" rtlCol="0" anchor="t"/>
          <a:lstStyle/>
          <a:p>
            <a:pPr marL="0" indent="0" algn="l">
              <a:lnSpc>
                <a:spcPct val="104000"/>
              </a:lnSpc>
              <a:buNone/>
            </a:pPr>
            <a:r>
              <a:rPr lang="en-US" sz="1200" b="1" dirty="0">
                <a:solidFill>
                  <a:srgbClr val="384653"/>
                </a:solidFill>
                <a:latin typeface="Barlow Bold" pitchFamily="34" charset="0"/>
                <a:ea typeface="Barlow Bold" pitchFamily="34" charset="-122"/>
                <a:cs typeface="Barlow Bold" pitchFamily="34" charset="-120"/>
              </a:rPr>
              <a:t>Reservations → Payments</a:t>
            </a:r>
            <a:endParaRPr lang="en-US" sz="1200" dirty="0"/>
          </a:p>
        </p:txBody>
      </p:sp>
      <p:sp>
        <p:nvSpPr>
          <p:cNvPr id="19" name="Text 13"/>
          <p:cNvSpPr/>
          <p:nvPr/>
        </p:nvSpPr>
        <p:spPr>
          <a:xfrm>
            <a:off x="4806851" y="3504307"/>
            <a:ext cx="3730451" cy="189533"/>
          </a:xfrm>
          <a:prstGeom prst="rect">
            <a:avLst/>
          </a:prstGeom>
          <a:noFill/>
          <a:ln/>
        </p:spPr>
        <p:txBody>
          <a:bodyPr wrap="none" lIns="0" tIns="0" rIns="0" bIns="0" rtlCol="0" anchor="t"/>
          <a:lstStyle/>
          <a:p>
            <a:pPr marL="0" indent="0" algn="l">
              <a:lnSpc>
                <a:spcPct val="133000"/>
              </a:lnSpc>
              <a:buNone/>
            </a:pPr>
            <a:r>
              <a:rPr lang="en-US" sz="900" dirty="0">
                <a:solidFill>
                  <a:srgbClr val="384653"/>
                </a:solidFill>
                <a:latin typeface="Montserrat" pitchFamily="34" charset="0"/>
                <a:ea typeface="Montserrat" pitchFamily="34" charset="-122"/>
                <a:cs typeface="Montserrat" pitchFamily="34" charset="-120"/>
              </a:rPr>
              <a:t>One reservation can contain associated payment details.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9542" y="281732"/>
            <a:ext cx="3039294" cy="322734"/>
          </a:xfrm>
          <a:prstGeom prst="rect">
            <a:avLst/>
          </a:prstGeom>
          <a:noFill/>
          <a:ln/>
        </p:spPr>
        <p:txBody>
          <a:bodyPr wrap="none" lIns="0" tIns="0" rIns="0" bIns="0" rtlCol="0" anchor="t"/>
          <a:lstStyle/>
          <a:p>
            <a:pPr marL="0" indent="0" algn="l">
              <a:lnSpc>
                <a:spcPct val="104000"/>
              </a:lnSpc>
              <a:buNone/>
            </a:pPr>
            <a:r>
              <a:rPr lang="en-US" sz="2000" b="1" dirty="0">
                <a:solidFill>
                  <a:srgbClr val="2E3C4E"/>
                </a:solidFill>
                <a:latin typeface="Barlow Bold" pitchFamily="34" charset="0"/>
                <a:ea typeface="Barlow Bold" pitchFamily="34" charset="-122"/>
                <a:cs typeface="Barlow Bold" pitchFamily="34" charset="-120"/>
              </a:rPr>
              <a:t>Normalization</a:t>
            </a:r>
            <a:endParaRPr lang="en-US" sz="2000" dirty="0"/>
          </a:p>
        </p:txBody>
      </p:sp>
      <p:sp>
        <p:nvSpPr>
          <p:cNvPr id="3" name="Text 1"/>
          <p:cNvSpPr/>
          <p:nvPr/>
        </p:nvSpPr>
        <p:spPr>
          <a:xfrm>
            <a:off x="499542" y="807467"/>
            <a:ext cx="1748210" cy="161330"/>
          </a:xfrm>
          <a:prstGeom prst="rect">
            <a:avLst/>
          </a:prstGeom>
          <a:noFill/>
          <a:ln/>
        </p:spPr>
        <p:txBody>
          <a:bodyPr wrap="none" lIns="0" tIns="0" rIns="0" bIns="0" rtlCol="0" anchor="t"/>
          <a:lstStyle/>
          <a:p>
            <a:pPr marL="0" indent="0" algn="l">
              <a:lnSpc>
                <a:spcPct val="104000"/>
              </a:lnSpc>
              <a:buNone/>
            </a:pPr>
            <a:r>
              <a:rPr lang="en-US" sz="1000" b="1" dirty="0">
                <a:solidFill>
                  <a:srgbClr val="2E3C4E"/>
                </a:solidFill>
                <a:latin typeface="Barlow Bold" pitchFamily="34" charset="0"/>
                <a:ea typeface="Barlow Bold" pitchFamily="34" charset="-122"/>
                <a:cs typeface="Barlow Bold" pitchFamily="34" charset="-120"/>
              </a:rPr>
              <a:t>Why Normalize?</a:t>
            </a:r>
            <a:endParaRPr lang="en-US" sz="1000" dirty="0"/>
          </a:p>
        </p:txBody>
      </p:sp>
      <p:sp>
        <p:nvSpPr>
          <p:cNvPr id="4" name="Text 2"/>
          <p:cNvSpPr/>
          <p:nvPr/>
        </p:nvSpPr>
        <p:spPr>
          <a:xfrm>
            <a:off x="499542" y="1049982"/>
            <a:ext cx="3952726" cy="430634"/>
          </a:xfrm>
          <a:prstGeom prst="rect">
            <a:avLst/>
          </a:prstGeom>
          <a:noFill/>
          <a:ln/>
        </p:spPr>
        <p:txBody>
          <a:bodyPr wrap="square" lIns="0" tIns="0" rIns="0" bIns="0" rtlCol="0" anchor="t">
            <a:normAutofit/>
          </a:bodyPr>
          <a:lstStyle/>
          <a:p>
            <a:pPr marL="0" indent="0" algn="l">
              <a:lnSpc>
                <a:spcPct val="122000"/>
              </a:lnSpc>
              <a:buNone/>
            </a:pPr>
            <a:r>
              <a:rPr lang="en-US" sz="750" dirty="0">
                <a:solidFill>
                  <a:srgbClr val="384653"/>
                </a:solidFill>
                <a:latin typeface="Montserrat" pitchFamily="34" charset="0"/>
                <a:ea typeface="Montserrat" pitchFamily="34" charset="-122"/>
                <a:cs typeface="Montserrat" pitchFamily="34" charset="-120"/>
              </a:rPr>
              <a:t>Normalization techniques are used to reduce redundancy and improve data consistency throughout the database. The Hotel Management System follows all three normal forms to ensure a clean, efficient schema.</a:t>
            </a:r>
            <a:endParaRPr lang="en-US" sz="750" dirty="0"/>
          </a:p>
        </p:txBody>
      </p:sp>
      <p:sp>
        <p:nvSpPr>
          <p:cNvPr id="5" name="Shape 3"/>
          <p:cNvSpPr/>
          <p:nvPr/>
        </p:nvSpPr>
        <p:spPr>
          <a:xfrm>
            <a:off x="499542" y="1571997"/>
            <a:ext cx="220712" cy="220712"/>
          </a:xfrm>
          <a:prstGeom prst="roundRect">
            <a:avLst>
              <a:gd name="adj" fmla="val 66686"/>
            </a:avLst>
          </a:prstGeom>
          <a:solidFill>
            <a:srgbClr val="D4E9F7"/>
          </a:solidFill>
          <a:ln w="4763">
            <a:solidFill>
              <a:srgbClr val="BACFDD"/>
            </a:solidFill>
            <a:prstDash val="solid"/>
          </a:ln>
        </p:spPr>
      </p:sp>
      <p:sp>
        <p:nvSpPr>
          <p:cNvPr id="6" name="Text 4"/>
          <p:cNvSpPr/>
          <p:nvPr/>
        </p:nvSpPr>
        <p:spPr>
          <a:xfrm>
            <a:off x="532470" y="1585540"/>
            <a:ext cx="154856" cy="193625"/>
          </a:xfrm>
          <a:prstGeom prst="rect">
            <a:avLst/>
          </a:prstGeom>
          <a:noFill/>
          <a:ln/>
        </p:spPr>
        <p:txBody>
          <a:bodyPr wrap="none" lIns="0" tIns="0" rIns="0" bIns="0" rtlCol="0" anchor="ctr"/>
          <a:lstStyle/>
          <a:p>
            <a:pPr marL="0" indent="0" algn="ctr">
              <a:lnSpc>
                <a:spcPct val="100000"/>
              </a:lnSpc>
              <a:buNone/>
            </a:pPr>
            <a:r>
              <a:rPr lang="en-US" sz="1200" b="1" dirty="0">
                <a:solidFill>
                  <a:srgbClr val="384653"/>
                </a:solidFill>
                <a:latin typeface="Barlow Bold" pitchFamily="34" charset="0"/>
                <a:ea typeface="Barlow Bold" pitchFamily="34" charset="-122"/>
                <a:cs typeface="Barlow Bold" pitchFamily="34" charset="-120"/>
              </a:rPr>
              <a:t>1</a:t>
            </a:r>
            <a:endParaRPr lang="en-US" sz="1200" dirty="0"/>
          </a:p>
        </p:txBody>
      </p:sp>
      <p:sp>
        <p:nvSpPr>
          <p:cNvPr id="7" name="Text 5"/>
          <p:cNvSpPr/>
          <p:nvPr/>
        </p:nvSpPr>
        <p:spPr>
          <a:xfrm>
            <a:off x="801439" y="1605707"/>
            <a:ext cx="1366763" cy="161330"/>
          </a:xfrm>
          <a:prstGeom prst="rect">
            <a:avLst/>
          </a:prstGeom>
          <a:noFill/>
          <a:ln/>
        </p:spPr>
        <p:txBody>
          <a:bodyPr wrap="none" lIns="0" tIns="0" rIns="0" bIns="0" rtlCol="0" anchor="t"/>
          <a:lstStyle/>
          <a:p>
            <a:pPr marL="0" indent="0" algn="l">
              <a:lnSpc>
                <a:spcPct val="104000"/>
              </a:lnSpc>
              <a:buNone/>
            </a:pPr>
            <a:r>
              <a:rPr lang="en-US" sz="1000" b="1" dirty="0">
                <a:solidFill>
                  <a:srgbClr val="384653"/>
                </a:solidFill>
                <a:latin typeface="Barlow Bold" pitchFamily="34" charset="0"/>
                <a:ea typeface="Barlow Bold" pitchFamily="34" charset="-122"/>
                <a:cs typeface="Barlow Bold" pitchFamily="34" charset="-120"/>
              </a:rPr>
              <a:t>1NF — First Normal Form</a:t>
            </a:r>
            <a:endParaRPr lang="en-US" sz="1000" dirty="0"/>
          </a:p>
        </p:txBody>
      </p:sp>
      <p:sp>
        <p:nvSpPr>
          <p:cNvPr id="8" name="Text 6"/>
          <p:cNvSpPr/>
          <p:nvPr/>
        </p:nvSpPr>
        <p:spPr>
          <a:xfrm>
            <a:off x="801439" y="1848222"/>
            <a:ext cx="3650828" cy="143545"/>
          </a:xfrm>
          <a:prstGeom prst="rect">
            <a:avLst/>
          </a:prstGeom>
          <a:noFill/>
          <a:ln/>
        </p:spPr>
        <p:txBody>
          <a:bodyPr wrap="none" lIns="0" tIns="0" rIns="0" bIns="0" rtlCol="0" anchor="t"/>
          <a:lstStyle/>
          <a:p>
            <a:pPr marL="0" indent="0" algn="l">
              <a:lnSpc>
                <a:spcPct val="122000"/>
              </a:lnSpc>
              <a:buNone/>
            </a:pPr>
            <a:r>
              <a:rPr lang="en-US" sz="750" dirty="0">
                <a:solidFill>
                  <a:srgbClr val="384653"/>
                </a:solidFill>
                <a:latin typeface="Montserrat" pitchFamily="34" charset="0"/>
                <a:ea typeface="Montserrat" pitchFamily="34" charset="-122"/>
                <a:cs typeface="Montserrat" pitchFamily="34" charset="-120"/>
              </a:rPr>
              <a:t>Ensures atomic values and eliminates repeating groups across all tables.</a:t>
            </a:r>
            <a:endParaRPr lang="en-US" sz="750" dirty="0"/>
          </a:p>
        </p:txBody>
      </p:sp>
      <p:sp>
        <p:nvSpPr>
          <p:cNvPr id="9" name="Shape 7"/>
          <p:cNvSpPr/>
          <p:nvPr/>
        </p:nvSpPr>
        <p:spPr>
          <a:xfrm>
            <a:off x="499542" y="2154213"/>
            <a:ext cx="220712" cy="220712"/>
          </a:xfrm>
          <a:prstGeom prst="roundRect">
            <a:avLst>
              <a:gd name="adj" fmla="val 66686"/>
            </a:avLst>
          </a:prstGeom>
          <a:solidFill>
            <a:srgbClr val="D4E9F7"/>
          </a:solidFill>
          <a:ln w="4763">
            <a:solidFill>
              <a:srgbClr val="BACFDD"/>
            </a:solidFill>
            <a:prstDash val="solid"/>
          </a:ln>
        </p:spPr>
      </p:sp>
      <p:sp>
        <p:nvSpPr>
          <p:cNvPr id="10" name="Text 8"/>
          <p:cNvSpPr/>
          <p:nvPr/>
        </p:nvSpPr>
        <p:spPr>
          <a:xfrm>
            <a:off x="532470" y="2167756"/>
            <a:ext cx="154856" cy="193625"/>
          </a:xfrm>
          <a:prstGeom prst="rect">
            <a:avLst/>
          </a:prstGeom>
          <a:noFill/>
          <a:ln/>
        </p:spPr>
        <p:txBody>
          <a:bodyPr wrap="none" lIns="0" tIns="0" rIns="0" bIns="0" rtlCol="0" anchor="ctr"/>
          <a:lstStyle/>
          <a:p>
            <a:pPr marL="0" indent="0" algn="ctr">
              <a:lnSpc>
                <a:spcPct val="100000"/>
              </a:lnSpc>
              <a:buNone/>
            </a:pPr>
            <a:r>
              <a:rPr lang="en-US" sz="1200" b="1" dirty="0">
                <a:solidFill>
                  <a:srgbClr val="384653"/>
                </a:solidFill>
                <a:latin typeface="Barlow Bold" pitchFamily="34" charset="0"/>
                <a:ea typeface="Barlow Bold" pitchFamily="34" charset="-122"/>
                <a:cs typeface="Barlow Bold" pitchFamily="34" charset="-120"/>
              </a:rPr>
              <a:t>2</a:t>
            </a:r>
            <a:endParaRPr lang="en-US" sz="1200" dirty="0"/>
          </a:p>
        </p:txBody>
      </p:sp>
      <p:sp>
        <p:nvSpPr>
          <p:cNvPr id="11" name="Text 9"/>
          <p:cNvSpPr/>
          <p:nvPr/>
        </p:nvSpPr>
        <p:spPr>
          <a:xfrm>
            <a:off x="801439" y="2187922"/>
            <a:ext cx="1556965" cy="161330"/>
          </a:xfrm>
          <a:prstGeom prst="rect">
            <a:avLst/>
          </a:prstGeom>
          <a:noFill/>
          <a:ln/>
        </p:spPr>
        <p:txBody>
          <a:bodyPr wrap="none" lIns="0" tIns="0" rIns="0" bIns="0" rtlCol="0" anchor="t"/>
          <a:lstStyle/>
          <a:p>
            <a:pPr marL="0" indent="0" algn="l">
              <a:lnSpc>
                <a:spcPct val="104000"/>
              </a:lnSpc>
              <a:buNone/>
            </a:pPr>
            <a:r>
              <a:rPr lang="en-US" sz="1000" b="1" dirty="0">
                <a:solidFill>
                  <a:srgbClr val="384653"/>
                </a:solidFill>
                <a:latin typeface="Barlow Bold" pitchFamily="34" charset="0"/>
                <a:ea typeface="Barlow Bold" pitchFamily="34" charset="-122"/>
                <a:cs typeface="Barlow Bold" pitchFamily="34" charset="-120"/>
              </a:rPr>
              <a:t>2NF — Second Normal Form</a:t>
            </a:r>
            <a:endParaRPr lang="en-US" sz="1000" dirty="0"/>
          </a:p>
        </p:txBody>
      </p:sp>
      <p:sp>
        <p:nvSpPr>
          <p:cNvPr id="12" name="Text 10"/>
          <p:cNvSpPr/>
          <p:nvPr/>
        </p:nvSpPr>
        <p:spPr>
          <a:xfrm>
            <a:off x="801439" y="2430438"/>
            <a:ext cx="3650828" cy="143545"/>
          </a:xfrm>
          <a:prstGeom prst="rect">
            <a:avLst/>
          </a:prstGeom>
          <a:noFill/>
          <a:ln/>
        </p:spPr>
        <p:txBody>
          <a:bodyPr wrap="none" lIns="0" tIns="0" rIns="0" bIns="0" rtlCol="0" anchor="t"/>
          <a:lstStyle/>
          <a:p>
            <a:pPr marL="0" indent="0" algn="l">
              <a:lnSpc>
                <a:spcPct val="122000"/>
              </a:lnSpc>
              <a:buNone/>
            </a:pPr>
            <a:r>
              <a:rPr lang="en-US" sz="750" dirty="0">
                <a:solidFill>
                  <a:srgbClr val="384653"/>
                </a:solidFill>
                <a:latin typeface="Montserrat" pitchFamily="34" charset="0"/>
                <a:ea typeface="Montserrat" pitchFamily="34" charset="-122"/>
                <a:cs typeface="Montserrat" pitchFamily="34" charset="-120"/>
              </a:rPr>
              <a:t>All non-key attributes fully depend on the primary key.</a:t>
            </a:r>
            <a:endParaRPr lang="en-US" sz="750" dirty="0"/>
          </a:p>
        </p:txBody>
      </p:sp>
      <p:sp>
        <p:nvSpPr>
          <p:cNvPr id="13" name="Shape 11"/>
          <p:cNvSpPr/>
          <p:nvPr/>
        </p:nvSpPr>
        <p:spPr>
          <a:xfrm>
            <a:off x="499542" y="2736428"/>
            <a:ext cx="220712" cy="220712"/>
          </a:xfrm>
          <a:prstGeom prst="roundRect">
            <a:avLst>
              <a:gd name="adj" fmla="val 66686"/>
            </a:avLst>
          </a:prstGeom>
          <a:solidFill>
            <a:srgbClr val="D4E9F7"/>
          </a:solidFill>
          <a:ln w="4763">
            <a:solidFill>
              <a:srgbClr val="BACFDD"/>
            </a:solidFill>
            <a:prstDash val="solid"/>
          </a:ln>
        </p:spPr>
      </p:sp>
      <p:sp>
        <p:nvSpPr>
          <p:cNvPr id="14" name="Text 12"/>
          <p:cNvSpPr/>
          <p:nvPr/>
        </p:nvSpPr>
        <p:spPr>
          <a:xfrm>
            <a:off x="532470" y="2749972"/>
            <a:ext cx="154856" cy="193625"/>
          </a:xfrm>
          <a:prstGeom prst="rect">
            <a:avLst/>
          </a:prstGeom>
          <a:noFill/>
          <a:ln/>
        </p:spPr>
        <p:txBody>
          <a:bodyPr wrap="none" lIns="0" tIns="0" rIns="0" bIns="0" rtlCol="0" anchor="ctr"/>
          <a:lstStyle/>
          <a:p>
            <a:pPr marL="0" indent="0" algn="ctr">
              <a:lnSpc>
                <a:spcPct val="100000"/>
              </a:lnSpc>
              <a:buNone/>
            </a:pPr>
            <a:r>
              <a:rPr lang="en-US" sz="1200" b="1" dirty="0">
                <a:solidFill>
                  <a:srgbClr val="384653"/>
                </a:solidFill>
                <a:latin typeface="Barlow Bold" pitchFamily="34" charset="0"/>
                <a:ea typeface="Barlow Bold" pitchFamily="34" charset="-122"/>
                <a:cs typeface="Barlow Bold" pitchFamily="34" charset="-120"/>
              </a:rPr>
              <a:t>3</a:t>
            </a:r>
            <a:endParaRPr lang="en-US" sz="1200" dirty="0"/>
          </a:p>
        </p:txBody>
      </p:sp>
      <p:sp>
        <p:nvSpPr>
          <p:cNvPr id="15" name="Text 13"/>
          <p:cNvSpPr/>
          <p:nvPr/>
        </p:nvSpPr>
        <p:spPr>
          <a:xfrm>
            <a:off x="801439" y="2770138"/>
            <a:ext cx="1423243" cy="161330"/>
          </a:xfrm>
          <a:prstGeom prst="rect">
            <a:avLst/>
          </a:prstGeom>
          <a:noFill/>
          <a:ln/>
        </p:spPr>
        <p:txBody>
          <a:bodyPr wrap="none" lIns="0" tIns="0" rIns="0" bIns="0" rtlCol="0" anchor="t"/>
          <a:lstStyle/>
          <a:p>
            <a:pPr marL="0" indent="0" algn="l">
              <a:lnSpc>
                <a:spcPct val="104000"/>
              </a:lnSpc>
              <a:buNone/>
            </a:pPr>
            <a:r>
              <a:rPr lang="en-US" sz="1000" b="1" dirty="0">
                <a:solidFill>
                  <a:srgbClr val="384653"/>
                </a:solidFill>
                <a:latin typeface="Barlow Bold" pitchFamily="34" charset="0"/>
                <a:ea typeface="Barlow Bold" pitchFamily="34" charset="-122"/>
                <a:cs typeface="Barlow Bold" pitchFamily="34" charset="-120"/>
              </a:rPr>
              <a:t>3NF — Third Normal Form</a:t>
            </a:r>
            <a:endParaRPr lang="en-US" sz="1000" dirty="0"/>
          </a:p>
        </p:txBody>
      </p:sp>
      <p:sp>
        <p:nvSpPr>
          <p:cNvPr id="16" name="Text 14"/>
          <p:cNvSpPr/>
          <p:nvPr/>
        </p:nvSpPr>
        <p:spPr>
          <a:xfrm>
            <a:off x="801439" y="3012653"/>
            <a:ext cx="3650828" cy="430634"/>
          </a:xfrm>
          <a:prstGeom prst="rect">
            <a:avLst/>
          </a:prstGeom>
          <a:noFill/>
          <a:ln/>
        </p:spPr>
        <p:txBody>
          <a:bodyPr wrap="square" lIns="0" tIns="0" rIns="0" bIns="0" rtlCol="0" anchor="t">
            <a:normAutofit/>
          </a:bodyPr>
          <a:lstStyle/>
          <a:p>
            <a:pPr marL="0" indent="0" algn="l">
              <a:lnSpc>
                <a:spcPct val="122000"/>
              </a:lnSpc>
              <a:buNone/>
            </a:pPr>
            <a:r>
              <a:rPr lang="en-US" sz="750" dirty="0">
                <a:solidFill>
                  <a:srgbClr val="384653"/>
                </a:solidFill>
                <a:latin typeface="Montserrat" pitchFamily="34" charset="0"/>
                <a:ea typeface="Montserrat" pitchFamily="34" charset="-122"/>
                <a:cs typeface="Montserrat" pitchFamily="34" charset="-120"/>
              </a:rPr>
              <a:t>Removes transitive dependencies. Room category details and pricing are stored separately in RoomCategory instead of being repeated in the Rooms table, improving maintainability and preventing duplicate data.</a:t>
            </a:r>
            <a:endParaRPr lang="en-US" sz="750" dirty="0"/>
          </a:p>
        </p:txBody>
      </p:sp>
      <p:pic>
        <p:nvPicPr>
          <p:cNvPr id="17" name="Image 0" descr="preencoded.png"/>
          <p:cNvPicPr>
            <a:picLocks noChangeAspect="1"/>
          </p:cNvPicPr>
          <p:nvPr/>
        </p:nvPicPr>
        <p:blipFill>
          <a:blip r:embed="rId3"/>
          <a:stretch>
            <a:fillRect/>
          </a:stretch>
        </p:blipFill>
        <p:spPr>
          <a:xfrm>
            <a:off x="4696346" y="817662"/>
            <a:ext cx="3952726" cy="39527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1693" y="349969"/>
            <a:ext cx="5159127" cy="371475"/>
          </a:xfrm>
          <a:prstGeom prst="rect">
            <a:avLst/>
          </a:prstGeom>
          <a:noFill/>
          <a:ln/>
        </p:spPr>
        <p:txBody>
          <a:bodyPr wrap="none" lIns="0" tIns="0" rIns="0" bIns="0" rtlCol="0" anchor="t"/>
          <a:lstStyle/>
          <a:p>
            <a:pPr marL="0" indent="0" algn="l">
              <a:lnSpc>
                <a:spcPct val="104000"/>
              </a:lnSpc>
              <a:buNone/>
            </a:pPr>
            <a:r>
              <a:rPr lang="en-US" sz="2300" b="1" dirty="0">
                <a:solidFill>
                  <a:srgbClr val="2E3C4E"/>
                </a:solidFill>
                <a:latin typeface="Barlow Bold" pitchFamily="34" charset="0"/>
                <a:ea typeface="Barlow Bold" pitchFamily="34" charset="-122"/>
                <a:cs typeface="Barlow Bold" pitchFamily="34" charset="-120"/>
              </a:rPr>
              <a:t>SQL Concepts &amp; Advanced Features</a:t>
            </a:r>
            <a:endParaRPr lang="en-US" sz="2300" dirty="0"/>
          </a:p>
        </p:txBody>
      </p:sp>
      <p:sp>
        <p:nvSpPr>
          <p:cNvPr id="3" name="Text 1"/>
          <p:cNvSpPr/>
          <p:nvPr/>
        </p:nvSpPr>
        <p:spPr>
          <a:xfrm>
            <a:off x="451693" y="936650"/>
            <a:ext cx="8240613" cy="529307"/>
          </a:xfrm>
          <a:prstGeom prst="rect">
            <a:avLst/>
          </a:prstGeom>
          <a:noFill/>
          <a:ln/>
        </p:spPr>
        <p:txBody>
          <a:bodyPr wrap="square" lIns="0" tIns="0" rIns="0" bIns="0" rtlCol="0" anchor="t">
            <a:normAutofit/>
          </a:bodyPr>
          <a:lstStyle/>
          <a:p>
            <a:pPr marL="0" indent="0" algn="l">
              <a:lnSpc>
                <a:spcPct val="130000"/>
              </a:lnSpc>
              <a:buNone/>
            </a:pPr>
            <a:r>
              <a:rPr lang="en-US" sz="850" dirty="0">
                <a:solidFill>
                  <a:srgbClr val="384653"/>
                </a:solidFill>
                <a:latin typeface="Montserrat" pitchFamily="34" charset="0"/>
                <a:ea typeface="Montserrat" pitchFamily="34" charset="-122"/>
                <a:cs typeface="Montserrat" pitchFamily="34" charset="-120"/>
              </a:rPr>
              <a:t>The project uses several SQL Server concepts to implement database operations effectively. DDL commands (CREATE, ALTER, DROP) create and manage database objects. DML commands (INSERT, UPDATE, DELETE, SELECT) manipulate data. DCL commands (GRANT, REVOKE) control user permissions. TCL commands (COMMIT, ROLLBACK) manage transactions and maintain data consistency.</a:t>
            </a:r>
            <a:endParaRPr lang="en-US" sz="850" dirty="0"/>
          </a:p>
        </p:txBody>
      </p:sp>
      <p:sp>
        <p:nvSpPr>
          <p:cNvPr id="4" name="Shape 2"/>
          <p:cNvSpPr/>
          <p:nvPr/>
        </p:nvSpPr>
        <p:spPr>
          <a:xfrm>
            <a:off x="451693" y="1587029"/>
            <a:ext cx="2675111" cy="1637630"/>
          </a:xfrm>
          <a:prstGeom prst="roundRect">
            <a:avLst>
              <a:gd name="adj" fmla="val 10344"/>
            </a:avLst>
          </a:prstGeom>
          <a:solidFill>
            <a:srgbClr val="D4E9F7"/>
          </a:solidFill>
          <a:ln w="4763">
            <a:solidFill>
              <a:srgbClr val="BACFDD"/>
            </a:solidFill>
            <a:prstDash val="solid"/>
          </a:ln>
        </p:spPr>
      </p:sp>
      <p:pic>
        <p:nvPicPr>
          <p:cNvPr id="5" name="Image 0" descr="preencoded.png"/>
          <p:cNvPicPr>
            <a:picLocks noChangeAspect="1"/>
          </p:cNvPicPr>
          <p:nvPr/>
        </p:nvPicPr>
        <p:blipFill>
          <a:blip r:embed="rId3"/>
          <a:stretch>
            <a:fillRect/>
          </a:stretch>
        </p:blipFill>
        <p:spPr>
          <a:xfrm>
            <a:off x="569342" y="1704677"/>
            <a:ext cx="338733" cy="338733"/>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508" y="1797769"/>
            <a:ext cx="152400" cy="152400"/>
          </a:xfrm>
          <a:prstGeom prst="rect">
            <a:avLst/>
          </a:prstGeom>
        </p:spPr>
      </p:pic>
      <p:sp>
        <p:nvSpPr>
          <p:cNvPr id="7" name="Text 3"/>
          <p:cNvSpPr/>
          <p:nvPr/>
        </p:nvSpPr>
        <p:spPr>
          <a:xfrm>
            <a:off x="569342" y="2151013"/>
            <a:ext cx="1485900" cy="185738"/>
          </a:xfrm>
          <a:prstGeom prst="rect">
            <a:avLst/>
          </a:prstGeom>
          <a:noFill/>
          <a:ln/>
        </p:spPr>
        <p:txBody>
          <a:bodyPr wrap="none" lIns="0" tIns="0" rIns="0" bIns="0" rtlCol="0" anchor="t"/>
          <a:lstStyle/>
          <a:p>
            <a:pPr marL="0" indent="0" algn="l">
              <a:lnSpc>
                <a:spcPct val="104000"/>
              </a:lnSpc>
              <a:buNone/>
            </a:pPr>
            <a:r>
              <a:rPr lang="en-US" sz="1150" b="1" dirty="0">
                <a:solidFill>
                  <a:srgbClr val="384653"/>
                </a:solidFill>
                <a:latin typeface="Barlow Bold" pitchFamily="34" charset="0"/>
                <a:ea typeface="Barlow Bold" pitchFamily="34" charset="-122"/>
                <a:cs typeface="Barlow Bold" pitchFamily="34" charset="-120"/>
              </a:rPr>
              <a:t>Functions</a:t>
            </a:r>
            <a:endParaRPr lang="en-US" sz="1150" dirty="0"/>
          </a:p>
        </p:txBody>
      </p:sp>
      <p:sp>
        <p:nvSpPr>
          <p:cNvPr id="8" name="Text 4"/>
          <p:cNvSpPr/>
          <p:nvPr/>
        </p:nvSpPr>
        <p:spPr>
          <a:xfrm>
            <a:off x="569342" y="2401267"/>
            <a:ext cx="2439814" cy="705743"/>
          </a:xfrm>
          <a:prstGeom prst="rect">
            <a:avLst/>
          </a:prstGeom>
          <a:noFill/>
          <a:ln/>
        </p:spPr>
        <p:txBody>
          <a:bodyPr wrap="square" lIns="0" tIns="0" rIns="0" bIns="0" rtlCol="0" anchor="t">
            <a:normAutofit/>
          </a:bodyPr>
          <a:lstStyle/>
          <a:p>
            <a:pPr marL="0" indent="0" algn="l">
              <a:lnSpc>
                <a:spcPct val="130000"/>
              </a:lnSpc>
              <a:buNone/>
            </a:pPr>
            <a:r>
              <a:rPr lang="en-US" sz="850" dirty="0">
                <a:solidFill>
                  <a:srgbClr val="384653"/>
                </a:solidFill>
                <a:latin typeface="Montserrat" pitchFamily="34" charset="0"/>
                <a:ea typeface="Montserrat" pitchFamily="34" charset="-122"/>
                <a:cs typeface="Montserrat" pitchFamily="34" charset="-120"/>
              </a:rPr>
              <a:t>Scalar and table-valued functions simplify query execution and perform reusable operations, reducing complexity and improving reusability.</a:t>
            </a:r>
            <a:endParaRPr lang="en-US" sz="850" dirty="0"/>
          </a:p>
        </p:txBody>
      </p:sp>
      <p:sp>
        <p:nvSpPr>
          <p:cNvPr id="9" name="Shape 5"/>
          <p:cNvSpPr/>
          <p:nvPr/>
        </p:nvSpPr>
        <p:spPr>
          <a:xfrm>
            <a:off x="3234407" y="1587029"/>
            <a:ext cx="2675111" cy="1637630"/>
          </a:xfrm>
          <a:prstGeom prst="roundRect">
            <a:avLst>
              <a:gd name="adj" fmla="val 10344"/>
            </a:avLst>
          </a:prstGeom>
          <a:solidFill>
            <a:srgbClr val="D4E9F7"/>
          </a:solidFill>
          <a:ln w="4763">
            <a:solidFill>
              <a:srgbClr val="BACFDD"/>
            </a:solidFill>
            <a:prstDash val="solid"/>
          </a:ln>
        </p:spPr>
      </p:sp>
      <p:pic>
        <p:nvPicPr>
          <p:cNvPr id="10" name="Image 2" descr="preencoded.png"/>
          <p:cNvPicPr>
            <a:picLocks noChangeAspect="1"/>
          </p:cNvPicPr>
          <p:nvPr/>
        </p:nvPicPr>
        <p:blipFill>
          <a:blip r:embed="rId5"/>
          <a:stretch>
            <a:fillRect/>
          </a:stretch>
        </p:blipFill>
        <p:spPr>
          <a:xfrm>
            <a:off x="3352056" y="1704677"/>
            <a:ext cx="338733" cy="338733"/>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45222" y="1797769"/>
            <a:ext cx="152400" cy="152400"/>
          </a:xfrm>
          <a:prstGeom prst="rect">
            <a:avLst/>
          </a:prstGeom>
        </p:spPr>
      </p:pic>
      <p:sp>
        <p:nvSpPr>
          <p:cNvPr id="12" name="Text 6"/>
          <p:cNvSpPr/>
          <p:nvPr/>
        </p:nvSpPr>
        <p:spPr>
          <a:xfrm>
            <a:off x="3352056" y="2151013"/>
            <a:ext cx="1485900" cy="185738"/>
          </a:xfrm>
          <a:prstGeom prst="rect">
            <a:avLst/>
          </a:prstGeom>
          <a:noFill/>
          <a:ln/>
        </p:spPr>
        <p:txBody>
          <a:bodyPr wrap="none" lIns="0" tIns="0" rIns="0" bIns="0" rtlCol="0" anchor="t"/>
          <a:lstStyle/>
          <a:p>
            <a:pPr marL="0" indent="0" algn="l">
              <a:lnSpc>
                <a:spcPct val="104000"/>
              </a:lnSpc>
              <a:buNone/>
            </a:pPr>
            <a:r>
              <a:rPr lang="en-US" sz="1150" b="1" dirty="0">
                <a:solidFill>
                  <a:srgbClr val="384653"/>
                </a:solidFill>
                <a:latin typeface="Barlow Bold" pitchFamily="34" charset="0"/>
                <a:ea typeface="Barlow Bold" pitchFamily="34" charset="-122"/>
                <a:cs typeface="Barlow Bold" pitchFamily="34" charset="-120"/>
              </a:rPr>
              <a:t>Views</a:t>
            </a:r>
            <a:endParaRPr lang="en-US" sz="1150" dirty="0"/>
          </a:p>
        </p:txBody>
      </p:sp>
      <p:sp>
        <p:nvSpPr>
          <p:cNvPr id="13" name="Text 7"/>
          <p:cNvSpPr/>
          <p:nvPr/>
        </p:nvSpPr>
        <p:spPr>
          <a:xfrm>
            <a:off x="3352056" y="2401267"/>
            <a:ext cx="2439814" cy="705743"/>
          </a:xfrm>
          <a:prstGeom prst="rect">
            <a:avLst/>
          </a:prstGeom>
          <a:noFill/>
          <a:ln/>
        </p:spPr>
        <p:txBody>
          <a:bodyPr wrap="square" lIns="0" tIns="0" rIns="0" bIns="0" rtlCol="0" anchor="t">
            <a:normAutofit/>
          </a:bodyPr>
          <a:lstStyle/>
          <a:p>
            <a:pPr marL="0" indent="0" algn="l">
              <a:lnSpc>
                <a:spcPct val="130000"/>
              </a:lnSpc>
              <a:buNone/>
            </a:pPr>
            <a:r>
              <a:rPr lang="en-US" sz="850" dirty="0">
                <a:solidFill>
                  <a:srgbClr val="384653"/>
                </a:solidFill>
                <a:latin typeface="Montserrat" pitchFamily="34" charset="0"/>
                <a:ea typeface="Montserrat" pitchFamily="34" charset="-122"/>
                <a:cs typeface="Montserrat" pitchFamily="34" charset="-120"/>
              </a:rPr>
              <a:t>Views simplify complex queries, provide abstraction over tables, improve readability, and enhance security by restricting direct table access.</a:t>
            </a:r>
            <a:endParaRPr lang="en-US" sz="850" dirty="0"/>
          </a:p>
        </p:txBody>
      </p:sp>
      <p:sp>
        <p:nvSpPr>
          <p:cNvPr id="14" name="Shape 8"/>
          <p:cNvSpPr/>
          <p:nvPr/>
        </p:nvSpPr>
        <p:spPr>
          <a:xfrm>
            <a:off x="6017121" y="1587029"/>
            <a:ext cx="2675186" cy="1637630"/>
          </a:xfrm>
          <a:prstGeom prst="roundRect">
            <a:avLst>
              <a:gd name="adj" fmla="val 10344"/>
            </a:avLst>
          </a:prstGeom>
          <a:solidFill>
            <a:srgbClr val="D4E9F7"/>
          </a:solidFill>
          <a:ln w="4763">
            <a:solidFill>
              <a:srgbClr val="BACFDD"/>
            </a:solidFill>
            <a:prstDash val="solid"/>
          </a:ln>
        </p:spPr>
      </p:sp>
      <p:pic>
        <p:nvPicPr>
          <p:cNvPr id="15" name="Image 4" descr="preencoded.png"/>
          <p:cNvPicPr>
            <a:picLocks noChangeAspect="1"/>
          </p:cNvPicPr>
          <p:nvPr/>
        </p:nvPicPr>
        <p:blipFill>
          <a:blip r:embed="rId7"/>
          <a:stretch>
            <a:fillRect/>
          </a:stretch>
        </p:blipFill>
        <p:spPr>
          <a:xfrm>
            <a:off x="6134770" y="1704677"/>
            <a:ext cx="338733" cy="338733"/>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27936" y="1797769"/>
            <a:ext cx="152400" cy="152400"/>
          </a:xfrm>
          <a:prstGeom prst="rect">
            <a:avLst/>
          </a:prstGeom>
        </p:spPr>
      </p:pic>
      <p:sp>
        <p:nvSpPr>
          <p:cNvPr id="17" name="Text 9"/>
          <p:cNvSpPr/>
          <p:nvPr/>
        </p:nvSpPr>
        <p:spPr>
          <a:xfrm>
            <a:off x="6134770" y="2151013"/>
            <a:ext cx="1485900" cy="185738"/>
          </a:xfrm>
          <a:prstGeom prst="rect">
            <a:avLst/>
          </a:prstGeom>
          <a:noFill/>
          <a:ln/>
        </p:spPr>
        <p:txBody>
          <a:bodyPr wrap="none" lIns="0" tIns="0" rIns="0" bIns="0" rtlCol="0" anchor="t"/>
          <a:lstStyle/>
          <a:p>
            <a:pPr marL="0" indent="0" algn="l">
              <a:lnSpc>
                <a:spcPct val="104000"/>
              </a:lnSpc>
              <a:buNone/>
            </a:pPr>
            <a:r>
              <a:rPr lang="en-US" sz="1150" b="1" dirty="0">
                <a:solidFill>
                  <a:srgbClr val="384653"/>
                </a:solidFill>
                <a:latin typeface="Barlow Bold" pitchFamily="34" charset="0"/>
                <a:ea typeface="Barlow Bold" pitchFamily="34" charset="-122"/>
                <a:cs typeface="Barlow Bold" pitchFamily="34" charset="-120"/>
              </a:rPr>
              <a:t>Triggers</a:t>
            </a:r>
            <a:endParaRPr lang="en-US" sz="1150" dirty="0"/>
          </a:p>
        </p:txBody>
      </p:sp>
      <p:sp>
        <p:nvSpPr>
          <p:cNvPr id="18" name="Text 10"/>
          <p:cNvSpPr/>
          <p:nvPr/>
        </p:nvSpPr>
        <p:spPr>
          <a:xfrm>
            <a:off x="6134770" y="2401267"/>
            <a:ext cx="2439888" cy="705743"/>
          </a:xfrm>
          <a:prstGeom prst="rect">
            <a:avLst/>
          </a:prstGeom>
          <a:noFill/>
          <a:ln/>
        </p:spPr>
        <p:txBody>
          <a:bodyPr wrap="square" lIns="0" tIns="0" rIns="0" bIns="0" rtlCol="0" anchor="t">
            <a:normAutofit/>
          </a:bodyPr>
          <a:lstStyle/>
          <a:p>
            <a:pPr marL="0" indent="0" algn="l">
              <a:lnSpc>
                <a:spcPct val="130000"/>
              </a:lnSpc>
              <a:buNone/>
            </a:pPr>
            <a:r>
              <a:rPr lang="en-US" sz="850" dirty="0">
                <a:solidFill>
                  <a:srgbClr val="384653"/>
                </a:solidFill>
                <a:latin typeface="Montserrat" pitchFamily="34" charset="0"/>
                <a:ea typeface="Montserrat" pitchFamily="34" charset="-122"/>
                <a:cs typeface="Montserrat" pitchFamily="34" charset="-120"/>
              </a:rPr>
              <a:t>Automatically execute actions on INSERT, UPDATE, or DELETE operations to maintain data consistency and validate conditions.</a:t>
            </a:r>
            <a:endParaRPr lang="en-US" sz="850" dirty="0"/>
          </a:p>
        </p:txBody>
      </p:sp>
      <p:sp>
        <p:nvSpPr>
          <p:cNvPr id="19" name="Shape 11"/>
          <p:cNvSpPr/>
          <p:nvPr/>
        </p:nvSpPr>
        <p:spPr>
          <a:xfrm>
            <a:off x="451693" y="3332262"/>
            <a:ext cx="4066505" cy="1461195"/>
          </a:xfrm>
          <a:prstGeom prst="roundRect">
            <a:avLst>
              <a:gd name="adj" fmla="val 11593"/>
            </a:avLst>
          </a:prstGeom>
          <a:solidFill>
            <a:srgbClr val="D4E9F7"/>
          </a:solidFill>
          <a:ln w="4763">
            <a:solidFill>
              <a:srgbClr val="BACFDD"/>
            </a:solidFill>
            <a:prstDash val="solid"/>
          </a:ln>
        </p:spPr>
      </p:sp>
      <p:pic>
        <p:nvPicPr>
          <p:cNvPr id="20" name="Image 6" descr="preencoded.png"/>
          <p:cNvPicPr>
            <a:picLocks noChangeAspect="1"/>
          </p:cNvPicPr>
          <p:nvPr/>
        </p:nvPicPr>
        <p:blipFill>
          <a:blip r:embed="rId9"/>
          <a:stretch>
            <a:fillRect/>
          </a:stretch>
        </p:blipFill>
        <p:spPr>
          <a:xfrm>
            <a:off x="569342" y="3449910"/>
            <a:ext cx="338733" cy="338733"/>
          </a:xfrm>
          <a:prstGeom prst="rect">
            <a:avLst/>
          </a:prstGeom>
        </p:spPr>
      </p:pic>
      <p:pic>
        <p:nvPicPr>
          <p:cNvPr id="2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2508" y="3543002"/>
            <a:ext cx="152400" cy="152400"/>
          </a:xfrm>
          <a:prstGeom prst="rect">
            <a:avLst/>
          </a:prstGeom>
        </p:spPr>
      </p:pic>
      <p:sp>
        <p:nvSpPr>
          <p:cNvPr id="22" name="Text 12"/>
          <p:cNvSpPr/>
          <p:nvPr/>
        </p:nvSpPr>
        <p:spPr>
          <a:xfrm>
            <a:off x="569342" y="3896246"/>
            <a:ext cx="1485900" cy="185738"/>
          </a:xfrm>
          <a:prstGeom prst="rect">
            <a:avLst/>
          </a:prstGeom>
          <a:noFill/>
          <a:ln/>
        </p:spPr>
        <p:txBody>
          <a:bodyPr wrap="none" lIns="0" tIns="0" rIns="0" bIns="0" rtlCol="0" anchor="t"/>
          <a:lstStyle/>
          <a:p>
            <a:pPr marL="0" indent="0" algn="l">
              <a:lnSpc>
                <a:spcPct val="104000"/>
              </a:lnSpc>
              <a:buNone/>
            </a:pPr>
            <a:r>
              <a:rPr lang="en-US" sz="1150" b="1" dirty="0">
                <a:solidFill>
                  <a:srgbClr val="384653"/>
                </a:solidFill>
                <a:latin typeface="Barlow Bold" pitchFamily="34" charset="0"/>
                <a:ea typeface="Barlow Bold" pitchFamily="34" charset="-122"/>
                <a:cs typeface="Barlow Bold" pitchFamily="34" charset="-120"/>
              </a:rPr>
              <a:t>Indexes</a:t>
            </a:r>
            <a:endParaRPr lang="en-US" sz="1150" dirty="0"/>
          </a:p>
        </p:txBody>
      </p:sp>
      <p:sp>
        <p:nvSpPr>
          <p:cNvPr id="23" name="Text 13"/>
          <p:cNvSpPr/>
          <p:nvPr/>
        </p:nvSpPr>
        <p:spPr>
          <a:xfrm>
            <a:off x="569342" y="4146500"/>
            <a:ext cx="3831208" cy="352871"/>
          </a:xfrm>
          <a:prstGeom prst="rect">
            <a:avLst/>
          </a:prstGeom>
          <a:noFill/>
          <a:ln/>
        </p:spPr>
        <p:txBody>
          <a:bodyPr wrap="square" lIns="0" tIns="0" rIns="0" bIns="0" rtlCol="0" anchor="t">
            <a:normAutofit/>
          </a:bodyPr>
          <a:lstStyle/>
          <a:p>
            <a:pPr marL="0" indent="0" algn="l">
              <a:lnSpc>
                <a:spcPct val="130000"/>
              </a:lnSpc>
              <a:buNone/>
            </a:pPr>
            <a:r>
              <a:rPr lang="en-US" sz="850" dirty="0">
                <a:solidFill>
                  <a:srgbClr val="384653"/>
                </a:solidFill>
                <a:latin typeface="Montserrat" pitchFamily="34" charset="0"/>
                <a:ea typeface="Montserrat" pitchFamily="34" charset="-122"/>
                <a:cs typeface="Montserrat" pitchFamily="34" charset="-120"/>
              </a:rPr>
              <a:t>Clustered and non-clustered indexes improve query performance and speed up data retrieval operations across the database.</a:t>
            </a:r>
            <a:endParaRPr lang="en-US" sz="850" dirty="0"/>
          </a:p>
        </p:txBody>
      </p:sp>
      <p:sp>
        <p:nvSpPr>
          <p:cNvPr id="24" name="Shape 14"/>
          <p:cNvSpPr/>
          <p:nvPr/>
        </p:nvSpPr>
        <p:spPr>
          <a:xfrm>
            <a:off x="4625801" y="3332262"/>
            <a:ext cx="4066505" cy="1461195"/>
          </a:xfrm>
          <a:prstGeom prst="roundRect">
            <a:avLst>
              <a:gd name="adj" fmla="val 11593"/>
            </a:avLst>
          </a:prstGeom>
          <a:solidFill>
            <a:srgbClr val="D4E9F7"/>
          </a:solidFill>
          <a:ln w="4763">
            <a:solidFill>
              <a:srgbClr val="BACFDD"/>
            </a:solidFill>
            <a:prstDash val="solid"/>
          </a:ln>
        </p:spPr>
      </p:sp>
      <p:pic>
        <p:nvPicPr>
          <p:cNvPr id="25" name="Image 8" descr="preencoded.png"/>
          <p:cNvPicPr>
            <a:picLocks noChangeAspect="1"/>
          </p:cNvPicPr>
          <p:nvPr/>
        </p:nvPicPr>
        <p:blipFill>
          <a:blip r:embed="rId11"/>
          <a:stretch>
            <a:fillRect/>
          </a:stretch>
        </p:blipFill>
        <p:spPr>
          <a:xfrm>
            <a:off x="4743450" y="3449910"/>
            <a:ext cx="338733" cy="338733"/>
          </a:xfrm>
          <a:prstGeom prst="rect">
            <a:avLst/>
          </a:prstGeom>
        </p:spPr>
      </p:pic>
      <p:pic>
        <p:nvPicPr>
          <p:cNvPr id="26"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36616" y="3543002"/>
            <a:ext cx="152400" cy="152400"/>
          </a:xfrm>
          <a:prstGeom prst="rect">
            <a:avLst/>
          </a:prstGeom>
        </p:spPr>
      </p:pic>
      <p:sp>
        <p:nvSpPr>
          <p:cNvPr id="27" name="Text 15"/>
          <p:cNvSpPr/>
          <p:nvPr/>
        </p:nvSpPr>
        <p:spPr>
          <a:xfrm>
            <a:off x="4743450" y="3896246"/>
            <a:ext cx="1485900" cy="185738"/>
          </a:xfrm>
          <a:prstGeom prst="rect">
            <a:avLst/>
          </a:prstGeom>
          <a:noFill/>
          <a:ln/>
        </p:spPr>
        <p:txBody>
          <a:bodyPr wrap="none" lIns="0" tIns="0" rIns="0" bIns="0" rtlCol="0" anchor="t"/>
          <a:lstStyle/>
          <a:p>
            <a:pPr marL="0" indent="0" algn="l">
              <a:lnSpc>
                <a:spcPct val="104000"/>
              </a:lnSpc>
              <a:buNone/>
            </a:pPr>
            <a:r>
              <a:rPr lang="en-US" sz="1150" b="1" dirty="0">
                <a:solidFill>
                  <a:srgbClr val="384653"/>
                </a:solidFill>
                <a:latin typeface="Barlow Bold" pitchFamily="34" charset="0"/>
                <a:ea typeface="Barlow Bold" pitchFamily="34" charset="-122"/>
                <a:cs typeface="Barlow Bold" pitchFamily="34" charset="-120"/>
              </a:rPr>
              <a:t>Transactions</a:t>
            </a:r>
            <a:endParaRPr lang="en-US" sz="1150" dirty="0"/>
          </a:p>
        </p:txBody>
      </p:sp>
      <p:sp>
        <p:nvSpPr>
          <p:cNvPr id="28" name="Text 16"/>
          <p:cNvSpPr/>
          <p:nvPr/>
        </p:nvSpPr>
        <p:spPr>
          <a:xfrm>
            <a:off x="4743450" y="4146500"/>
            <a:ext cx="3831208" cy="529307"/>
          </a:xfrm>
          <a:prstGeom prst="rect">
            <a:avLst/>
          </a:prstGeom>
          <a:noFill/>
          <a:ln/>
        </p:spPr>
        <p:txBody>
          <a:bodyPr wrap="square" lIns="0" tIns="0" rIns="0" bIns="0" rtlCol="0" anchor="t">
            <a:normAutofit/>
          </a:bodyPr>
          <a:lstStyle/>
          <a:p>
            <a:pPr marL="0" indent="0" algn="l">
              <a:lnSpc>
                <a:spcPct val="130000"/>
              </a:lnSpc>
              <a:buNone/>
            </a:pPr>
            <a:r>
              <a:rPr lang="en-US" sz="850" dirty="0">
                <a:solidFill>
                  <a:srgbClr val="384653"/>
                </a:solidFill>
                <a:latin typeface="Montserrat" pitchFamily="34" charset="0"/>
                <a:ea typeface="Montserrat" pitchFamily="34" charset="-122"/>
                <a:cs typeface="Montserrat" pitchFamily="34" charset="-120"/>
              </a:rPr>
              <a:t>BEGIN TRANSACTION, COMMIT, and ROLLBACK ensure database changes are either fully completed or completely rolled back in case of failures.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191071" y="261119"/>
            <a:ext cx="2645122" cy="267965"/>
          </a:xfrm>
          <a:prstGeom prst="rect">
            <a:avLst/>
          </a:prstGeom>
          <a:noFill/>
          <a:ln/>
        </p:spPr>
        <p:txBody>
          <a:bodyPr wrap="none" lIns="0" tIns="0" rIns="0" bIns="0" rtlCol="0" anchor="t"/>
          <a:lstStyle/>
          <a:p>
            <a:pPr marL="0" indent="0" algn="l">
              <a:lnSpc>
                <a:spcPct val="104000"/>
              </a:lnSpc>
              <a:buNone/>
            </a:pPr>
            <a:r>
              <a:rPr lang="en-US" sz="1650" b="1" dirty="0">
                <a:solidFill>
                  <a:srgbClr val="2E3C4E"/>
                </a:solidFill>
                <a:latin typeface="Barlow Bold" pitchFamily="34" charset="0"/>
                <a:ea typeface="Barlow Bold" pitchFamily="34" charset="-122"/>
                <a:cs typeface="Barlow Bold" pitchFamily="34" charset="-120"/>
              </a:rPr>
              <a:t>Project Execution Flow</a:t>
            </a:r>
            <a:endParaRPr lang="en-US" sz="1650" dirty="0"/>
          </a:p>
        </p:txBody>
      </p:sp>
      <p:pic>
        <p:nvPicPr>
          <p:cNvPr id="3" name="Image 0" descr="preencoded.png"/>
          <p:cNvPicPr>
            <a:picLocks noChangeAspect="1"/>
          </p:cNvPicPr>
          <p:nvPr/>
        </p:nvPicPr>
        <p:blipFill>
          <a:blip r:embed="rId3"/>
          <a:stretch>
            <a:fillRect/>
          </a:stretch>
        </p:blipFill>
        <p:spPr>
          <a:xfrm>
            <a:off x="1218902" y="641077"/>
            <a:ext cx="6706046" cy="2891805"/>
          </a:xfrm>
          <a:prstGeom prst="rect">
            <a:avLst/>
          </a:prstGeom>
        </p:spPr>
      </p:pic>
      <p:sp>
        <p:nvSpPr>
          <p:cNvPr id="4" name="Text 1"/>
          <p:cNvSpPr/>
          <p:nvPr/>
        </p:nvSpPr>
        <p:spPr>
          <a:xfrm>
            <a:off x="1670146" y="2979416"/>
            <a:ext cx="2058556" cy="200209"/>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Barlow Bold" pitchFamily="34" charset="0"/>
                <a:ea typeface="Barlow Bold" pitchFamily="34" charset="-122"/>
                <a:cs typeface="Barlow Bold" pitchFamily="34" charset="-120"/>
              </a:rPr>
              <a:t>Run Tests &amp; Output</a:t>
            </a:r>
            <a:endParaRPr lang="en-US" sz="1250" dirty="0"/>
          </a:p>
        </p:txBody>
      </p:sp>
      <p:sp>
        <p:nvSpPr>
          <p:cNvPr id="5" name="Text 2"/>
          <p:cNvSpPr/>
          <p:nvPr/>
        </p:nvSpPr>
        <p:spPr>
          <a:xfrm>
            <a:off x="1670146" y="2310010"/>
            <a:ext cx="2085708" cy="200209"/>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Barlow Bold" pitchFamily="34" charset="0"/>
                <a:ea typeface="Barlow Bold" pitchFamily="34" charset="-122"/>
                <a:cs typeface="Barlow Bold" pitchFamily="34" charset="-120"/>
              </a:rPr>
              <a:t>Create Logic &amp; Indexes</a:t>
            </a:r>
            <a:endParaRPr lang="en-US" sz="1250" dirty="0"/>
          </a:p>
        </p:txBody>
      </p:sp>
      <p:sp>
        <p:nvSpPr>
          <p:cNvPr id="6" name="Text 3"/>
          <p:cNvSpPr/>
          <p:nvPr/>
        </p:nvSpPr>
        <p:spPr>
          <a:xfrm>
            <a:off x="1670146" y="1647366"/>
            <a:ext cx="2058556" cy="200209"/>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Barlow Bold" pitchFamily="34" charset="0"/>
                <a:ea typeface="Barlow Bold" pitchFamily="34" charset="-122"/>
                <a:cs typeface="Barlow Bold" pitchFamily="34" charset="-120"/>
              </a:rPr>
              <a:t>Insert Sample Data</a:t>
            </a:r>
            <a:endParaRPr lang="en-US" sz="1250" dirty="0"/>
          </a:p>
        </p:txBody>
      </p:sp>
      <p:sp>
        <p:nvSpPr>
          <p:cNvPr id="7" name="Text 4"/>
          <p:cNvSpPr/>
          <p:nvPr/>
        </p:nvSpPr>
        <p:spPr>
          <a:xfrm>
            <a:off x="1670146" y="977960"/>
            <a:ext cx="2058556" cy="200209"/>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Barlow Bold" pitchFamily="34" charset="0"/>
                <a:ea typeface="Barlow Bold" pitchFamily="34" charset="-122"/>
                <a:cs typeface="Barlow Bold" pitchFamily="34" charset="-120"/>
              </a:rPr>
              <a:t>DB Creation</a:t>
            </a:r>
            <a:endParaRPr lang="en-US" sz="1250" dirty="0"/>
          </a:p>
        </p:txBody>
      </p:sp>
      <p:sp>
        <p:nvSpPr>
          <p:cNvPr id="8" name="Text 5"/>
          <p:cNvSpPr/>
          <p:nvPr/>
        </p:nvSpPr>
        <p:spPr>
          <a:xfrm>
            <a:off x="1191071" y="3595836"/>
            <a:ext cx="6761783" cy="329952"/>
          </a:xfrm>
          <a:prstGeom prst="rect">
            <a:avLst/>
          </a:prstGeom>
          <a:noFill/>
          <a:ln/>
        </p:spPr>
        <p:txBody>
          <a:bodyPr wrap="square" lIns="0" tIns="0" rIns="0" bIns="0" rtlCol="0" anchor="t">
            <a:normAutofit/>
          </a:bodyPr>
          <a:lstStyle/>
          <a:p>
            <a:pPr marL="0" indent="0" algn="l">
              <a:lnSpc>
                <a:spcPct val="113000"/>
              </a:lnSpc>
              <a:buNone/>
            </a:pPr>
            <a:r>
              <a:rPr lang="en-US" sz="600" dirty="0">
                <a:solidFill>
                  <a:srgbClr val="384653"/>
                </a:solidFill>
                <a:latin typeface="Montserrat" pitchFamily="34" charset="0"/>
                <a:ea typeface="Montserrat" pitchFamily="34" charset="-122"/>
                <a:cs typeface="Montserrat" pitchFamily="34" charset="-120"/>
              </a:rPr>
              <a:t>The project execution follows a structured sequence — beginning with database and table creation using DDL scripts, followed by sample data insertion via DML commands. Functions, views, triggers, and indexes are then created to enhance functionality. Transactions are implemented to demonstrate data consistency management, and finally, queries are executed to test the system and generate outputs.</a:t>
            </a:r>
            <a:endParaRPr lang="en-US" sz="600" dirty="0"/>
          </a:p>
        </p:txBody>
      </p:sp>
      <p:sp>
        <p:nvSpPr>
          <p:cNvPr id="9" name="Shape 6"/>
          <p:cNvSpPr/>
          <p:nvPr/>
        </p:nvSpPr>
        <p:spPr>
          <a:xfrm>
            <a:off x="1132433" y="3988743"/>
            <a:ext cx="3398788" cy="893638"/>
          </a:xfrm>
          <a:prstGeom prst="roundRect">
            <a:avLst>
              <a:gd name="adj" fmla="val 21877"/>
            </a:avLst>
          </a:prstGeom>
          <a:solidFill>
            <a:srgbClr val="437066"/>
          </a:solidFill>
          <a:ln/>
        </p:spPr>
      </p:sp>
      <p:sp>
        <p:nvSpPr>
          <p:cNvPr id="10" name="Text 7"/>
          <p:cNvSpPr/>
          <p:nvPr/>
        </p:nvSpPr>
        <p:spPr>
          <a:xfrm>
            <a:off x="1213842" y="4044702"/>
            <a:ext cx="1528986" cy="133945"/>
          </a:xfrm>
          <a:prstGeom prst="rect">
            <a:avLst/>
          </a:prstGeom>
          <a:noFill/>
          <a:ln/>
        </p:spPr>
        <p:txBody>
          <a:bodyPr wrap="none" lIns="0" tIns="0" rIns="0" bIns="0" rtlCol="0" anchor="t"/>
          <a:lstStyle/>
          <a:p>
            <a:pPr marL="0" indent="0" algn="l">
              <a:lnSpc>
                <a:spcPct val="104000"/>
              </a:lnSpc>
              <a:buNone/>
            </a:pPr>
            <a:r>
              <a:rPr lang="en-US" sz="800" b="1" dirty="0">
                <a:solidFill>
                  <a:srgbClr val="FFFFFF"/>
                </a:solidFill>
                <a:latin typeface="Barlow Bold" pitchFamily="34" charset="0"/>
                <a:ea typeface="Barlow Bold" pitchFamily="34" charset="-122"/>
                <a:cs typeface="Barlow Bold" pitchFamily="34" charset="-120"/>
              </a:rPr>
              <a:t>Advantages</a:t>
            </a:r>
            <a:endParaRPr lang="en-US" sz="800" dirty="0"/>
          </a:p>
        </p:txBody>
      </p:sp>
      <p:sp>
        <p:nvSpPr>
          <p:cNvPr id="11" name="Text 8"/>
          <p:cNvSpPr/>
          <p:nvPr/>
        </p:nvSpPr>
        <p:spPr>
          <a:xfrm>
            <a:off x="1213842" y="4234607"/>
            <a:ext cx="3235970" cy="628204"/>
          </a:xfrm>
          <a:prstGeom prst="rect">
            <a:avLst/>
          </a:prstGeom>
          <a:noFill/>
          <a:ln/>
        </p:spPr>
        <p:txBody>
          <a:bodyPr wrap="square" lIns="0" tIns="0" rIns="0" bIns="0" rtlCol="0" anchor="t">
            <a:normAutofit/>
          </a:bodyPr>
          <a:lstStyle/>
          <a:p>
            <a:pPr marL="342900" indent="-342900" algn="l">
              <a:lnSpc>
                <a:spcPct val="113000"/>
              </a:lnSpc>
              <a:buSzPct val="100000"/>
              <a:buChar char="•"/>
            </a:pPr>
            <a:r>
              <a:rPr lang="en-US" sz="600" dirty="0">
                <a:solidFill>
                  <a:srgbClr val="FFFFFF"/>
                </a:solidFill>
                <a:latin typeface="Montserrat" pitchFamily="34" charset="0"/>
                <a:ea typeface="Montserrat" pitchFamily="34" charset="-122"/>
                <a:cs typeface="Montserrat" pitchFamily="34" charset="-120"/>
              </a:rPr>
              <a:t>Reduces manual work in hotel operations</a:t>
            </a:r>
            <a:endParaRPr lang="en-US" sz="600" dirty="0"/>
          </a:p>
          <a:p>
            <a:pPr marL="342900" indent="-342900" algn="l">
              <a:lnSpc>
                <a:spcPct val="113000"/>
              </a:lnSpc>
              <a:buSzPct val="100000"/>
              <a:buChar char="•"/>
            </a:pPr>
            <a:r>
              <a:rPr lang="en-US" sz="600" dirty="0">
                <a:solidFill>
                  <a:srgbClr val="FFFFFF"/>
                </a:solidFill>
                <a:latin typeface="Montserrat" pitchFamily="34" charset="0"/>
                <a:ea typeface="Montserrat" pitchFamily="34" charset="-122"/>
                <a:cs typeface="Montserrat" pitchFamily="34" charset="-120"/>
              </a:rPr>
              <a:t>Primary &amp; foreign keys ensure referential integrity</a:t>
            </a:r>
            <a:endParaRPr lang="en-US" sz="600" dirty="0"/>
          </a:p>
          <a:p>
            <a:pPr marL="342900" indent="-342900" algn="l">
              <a:lnSpc>
                <a:spcPct val="113000"/>
              </a:lnSpc>
              <a:buSzPct val="100000"/>
              <a:buChar char="•"/>
            </a:pPr>
            <a:r>
              <a:rPr lang="en-US" sz="600" dirty="0">
                <a:solidFill>
                  <a:srgbClr val="FFFFFF"/>
                </a:solidFill>
                <a:latin typeface="Montserrat" pitchFamily="34" charset="0"/>
                <a:ea typeface="Montserrat" pitchFamily="34" charset="-122"/>
                <a:cs typeface="Montserrat" pitchFamily="34" charset="-120"/>
              </a:rPr>
              <a:t>Normalization reduces data redundancy</a:t>
            </a:r>
            <a:endParaRPr lang="en-US" sz="600" dirty="0"/>
          </a:p>
          <a:p>
            <a:pPr marL="342900" indent="-342900" algn="l">
              <a:lnSpc>
                <a:spcPct val="113000"/>
              </a:lnSpc>
              <a:buSzPct val="100000"/>
              <a:buChar char="•"/>
            </a:pPr>
            <a:r>
              <a:rPr lang="en-US" sz="600" dirty="0">
                <a:solidFill>
                  <a:srgbClr val="FFFFFF"/>
                </a:solidFill>
                <a:latin typeface="Montserrat" pitchFamily="34" charset="0"/>
                <a:ea typeface="Montserrat" pitchFamily="34" charset="-122"/>
                <a:cs typeface="Montserrat" pitchFamily="34" charset="-120"/>
              </a:rPr>
              <a:t>Indexes improve query performance</a:t>
            </a:r>
            <a:endParaRPr lang="en-US" sz="600" dirty="0"/>
          </a:p>
          <a:p>
            <a:pPr marL="342900" indent="-342900" algn="l">
              <a:lnSpc>
                <a:spcPct val="113000"/>
              </a:lnSpc>
              <a:buSzPct val="100000"/>
              <a:buChar char="•"/>
            </a:pPr>
            <a:r>
              <a:rPr lang="en-US" sz="600" dirty="0">
                <a:solidFill>
                  <a:srgbClr val="FFFFFF"/>
                </a:solidFill>
                <a:latin typeface="Montserrat" pitchFamily="34" charset="0"/>
                <a:ea typeface="Montserrat" pitchFamily="34" charset="-122"/>
                <a:cs typeface="Montserrat" pitchFamily="34" charset="-120"/>
              </a:rPr>
              <a:t>Better organization and easier maintenance</a:t>
            </a:r>
            <a:endParaRPr lang="en-US" sz="600" dirty="0"/>
          </a:p>
        </p:txBody>
      </p:sp>
      <p:sp>
        <p:nvSpPr>
          <p:cNvPr id="12" name="Text 9"/>
          <p:cNvSpPr/>
          <p:nvPr/>
        </p:nvSpPr>
        <p:spPr>
          <a:xfrm>
            <a:off x="4676031" y="4044702"/>
            <a:ext cx="1528986" cy="133945"/>
          </a:xfrm>
          <a:prstGeom prst="rect">
            <a:avLst/>
          </a:prstGeom>
          <a:noFill/>
          <a:ln/>
        </p:spPr>
        <p:txBody>
          <a:bodyPr wrap="none" lIns="0" tIns="0" rIns="0" bIns="0" rtlCol="0" anchor="t"/>
          <a:lstStyle/>
          <a:p>
            <a:pPr marL="0" indent="0" algn="l">
              <a:lnSpc>
                <a:spcPct val="104000"/>
              </a:lnSpc>
              <a:buNone/>
            </a:pPr>
            <a:r>
              <a:rPr lang="en-US" sz="800" b="1" dirty="0">
                <a:solidFill>
                  <a:srgbClr val="2E3C4E"/>
                </a:solidFill>
                <a:latin typeface="Barlow Bold" pitchFamily="34" charset="0"/>
                <a:ea typeface="Barlow Bold" pitchFamily="34" charset="-122"/>
                <a:cs typeface="Barlow Bold" pitchFamily="34" charset="-120"/>
              </a:rPr>
              <a:t>Future Enhancements</a:t>
            </a:r>
            <a:endParaRPr lang="en-US" sz="800" dirty="0"/>
          </a:p>
        </p:txBody>
      </p:sp>
      <p:sp>
        <p:nvSpPr>
          <p:cNvPr id="13" name="Text 10"/>
          <p:cNvSpPr/>
          <p:nvPr/>
        </p:nvSpPr>
        <p:spPr>
          <a:xfrm>
            <a:off x="4676031" y="4234607"/>
            <a:ext cx="3281511" cy="628204"/>
          </a:xfrm>
          <a:prstGeom prst="rect">
            <a:avLst/>
          </a:prstGeom>
          <a:noFill/>
          <a:ln/>
        </p:spPr>
        <p:txBody>
          <a:bodyPr wrap="square" lIns="0" tIns="0" rIns="0" bIns="0" rtlCol="0" anchor="t">
            <a:normAutofit/>
          </a:bodyPr>
          <a:lstStyle/>
          <a:p>
            <a:pPr marL="342900" indent="-342900" algn="l">
              <a:lnSpc>
                <a:spcPct val="113000"/>
              </a:lnSpc>
              <a:buSzPct val="100000"/>
              <a:buChar char="•"/>
            </a:pPr>
            <a:r>
              <a:rPr lang="en-US" sz="600" dirty="0">
                <a:solidFill>
                  <a:srgbClr val="384653"/>
                </a:solidFill>
                <a:latin typeface="Montserrat" pitchFamily="34" charset="0"/>
                <a:ea typeface="Montserrat" pitchFamily="34" charset="-122"/>
                <a:cs typeface="Montserrat" pitchFamily="34" charset="-120"/>
              </a:rPr>
              <a:t>Online booking system integration</a:t>
            </a:r>
            <a:endParaRPr lang="en-US" sz="600" dirty="0"/>
          </a:p>
          <a:p>
            <a:pPr marL="342900" indent="-342900" algn="l">
              <a:lnSpc>
                <a:spcPct val="113000"/>
              </a:lnSpc>
              <a:buSzPct val="100000"/>
              <a:buChar char="•"/>
            </a:pPr>
            <a:r>
              <a:rPr lang="en-US" sz="600" dirty="0">
                <a:solidFill>
                  <a:srgbClr val="384653"/>
                </a:solidFill>
                <a:latin typeface="Montserrat" pitchFamily="34" charset="0"/>
                <a:ea typeface="Montserrat" pitchFamily="34" charset="-122"/>
                <a:cs typeface="Montserrat" pitchFamily="34" charset="-120"/>
              </a:rPr>
              <a:t>Admin dashboard &amp; authentication system</a:t>
            </a:r>
            <a:endParaRPr lang="en-US" sz="600" dirty="0"/>
          </a:p>
          <a:p>
            <a:pPr marL="342900" indent="-342900" algn="l">
              <a:lnSpc>
                <a:spcPct val="113000"/>
              </a:lnSpc>
              <a:buSzPct val="100000"/>
              <a:buChar char="•"/>
            </a:pPr>
            <a:r>
              <a:rPr lang="en-US" sz="600" dirty="0">
                <a:solidFill>
                  <a:srgbClr val="384653"/>
                </a:solidFill>
                <a:latin typeface="Montserrat" pitchFamily="34" charset="0"/>
                <a:ea typeface="Montserrat" pitchFamily="34" charset="-122"/>
                <a:cs typeface="Montserrat" pitchFamily="34" charset="-120"/>
              </a:rPr>
              <a:t>ASP.NET Core frontend application</a:t>
            </a:r>
            <a:endParaRPr lang="en-US" sz="600" dirty="0"/>
          </a:p>
          <a:p>
            <a:pPr marL="342900" indent="-342900" algn="l">
              <a:lnSpc>
                <a:spcPct val="113000"/>
              </a:lnSpc>
              <a:buSzPct val="100000"/>
              <a:buChar char="•"/>
            </a:pPr>
            <a:r>
              <a:rPr lang="en-US" sz="600" dirty="0">
                <a:solidFill>
                  <a:srgbClr val="384653"/>
                </a:solidFill>
                <a:latin typeface="Montserrat" pitchFamily="34" charset="0"/>
                <a:ea typeface="Montserrat" pitchFamily="34" charset="-122"/>
                <a:cs typeface="Montserrat" pitchFamily="34" charset="-120"/>
              </a:rPr>
              <a:t>Staff management module</a:t>
            </a:r>
            <a:endParaRPr lang="en-US" sz="600" dirty="0"/>
          </a:p>
          <a:p>
            <a:pPr marL="342900" indent="-342900" algn="l">
              <a:lnSpc>
                <a:spcPct val="113000"/>
              </a:lnSpc>
              <a:buSzPct val="100000"/>
              <a:buChar char="•"/>
            </a:pPr>
            <a:r>
              <a:rPr lang="en-US" sz="600" dirty="0">
                <a:solidFill>
                  <a:srgbClr val="384653"/>
                </a:solidFill>
                <a:latin typeface="Montserrat" pitchFamily="34" charset="0"/>
                <a:ea typeface="Montserrat" pitchFamily="34" charset="-122"/>
                <a:cs typeface="Montserrat" pitchFamily="34" charset="-120"/>
              </a:rPr>
              <a:t>Payment gateway integration</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00450" cy="5143500"/>
          </a:xfrm>
          <a:prstGeom prst="rect">
            <a:avLst/>
          </a:prstGeom>
        </p:spPr>
      </p:pic>
      <p:sp>
        <p:nvSpPr>
          <p:cNvPr id="3" name="Text 0"/>
          <p:cNvSpPr/>
          <p:nvPr/>
        </p:nvSpPr>
        <p:spPr>
          <a:xfrm>
            <a:off x="3777035" y="242813"/>
            <a:ext cx="2746995" cy="286196"/>
          </a:xfrm>
          <a:prstGeom prst="rect">
            <a:avLst/>
          </a:prstGeom>
          <a:noFill/>
          <a:ln/>
        </p:spPr>
        <p:txBody>
          <a:bodyPr wrap="none" lIns="0" tIns="0" rIns="0" bIns="0" rtlCol="0" anchor="t"/>
          <a:lstStyle/>
          <a:p>
            <a:pPr marL="0" indent="0" algn="l">
              <a:lnSpc>
                <a:spcPct val="104000"/>
              </a:lnSpc>
              <a:buNone/>
            </a:pPr>
            <a:r>
              <a:rPr lang="en-US" sz="1800" b="1" dirty="0">
                <a:solidFill>
                  <a:srgbClr val="2E3C4E"/>
                </a:solidFill>
                <a:latin typeface="Barlow Bold" pitchFamily="34" charset="0"/>
                <a:ea typeface="Barlow Bold" pitchFamily="34" charset="-122"/>
                <a:cs typeface="Barlow Bold" pitchFamily="34" charset="-120"/>
              </a:rPr>
              <a:t>Conclusion</a:t>
            </a:r>
            <a:endParaRPr lang="en-US" sz="1800" dirty="0"/>
          </a:p>
        </p:txBody>
      </p:sp>
      <p:sp>
        <p:nvSpPr>
          <p:cNvPr id="4" name="Text 1"/>
          <p:cNvSpPr/>
          <p:nvPr/>
        </p:nvSpPr>
        <p:spPr>
          <a:xfrm>
            <a:off x="3907482" y="696739"/>
            <a:ext cx="4888483" cy="361876"/>
          </a:xfrm>
          <a:prstGeom prst="rect">
            <a:avLst/>
          </a:prstGeom>
          <a:noFill/>
          <a:ln/>
        </p:spPr>
        <p:txBody>
          <a:bodyPr wrap="square" lIns="0" tIns="0" rIns="0" bIns="0" rtlCol="0" anchor="t">
            <a:normAutofit/>
          </a:bodyPr>
          <a:lstStyle/>
          <a:p>
            <a:pPr marL="0" indent="0" algn="l">
              <a:lnSpc>
                <a:spcPct val="116000"/>
              </a:lnSpc>
              <a:buNone/>
            </a:pPr>
            <a:r>
              <a:rPr lang="en-US" sz="650" dirty="0">
                <a:solidFill>
                  <a:srgbClr val="384653"/>
                </a:solidFill>
                <a:latin typeface="Montserrat" pitchFamily="34" charset="0"/>
                <a:ea typeface="Montserrat" pitchFamily="34" charset="-122"/>
                <a:cs typeface="Montserrat" pitchFamily="34" charset="-120"/>
              </a:rPr>
              <a:t>The Hotel Management System successfully demonstrates the practical implementation of Microsoft SQL Server concepts through a real-world mini project — including normalization, relationships, functions, views, triggers, indexes, and transactions to create an efficient and scalable hotel reservation system.</a:t>
            </a:r>
            <a:endParaRPr lang="en-US" sz="650" dirty="0"/>
          </a:p>
        </p:txBody>
      </p:sp>
      <p:sp>
        <p:nvSpPr>
          <p:cNvPr id="5" name="Shape 2"/>
          <p:cNvSpPr/>
          <p:nvPr/>
        </p:nvSpPr>
        <p:spPr>
          <a:xfrm>
            <a:off x="3777035" y="624855"/>
            <a:ext cx="9525" cy="505644"/>
          </a:xfrm>
          <a:prstGeom prst="rect">
            <a:avLst/>
          </a:prstGeom>
          <a:solidFill>
            <a:srgbClr val="75BAE6"/>
          </a:solidFill>
          <a:ln/>
        </p:spPr>
      </p:sp>
      <p:sp>
        <p:nvSpPr>
          <p:cNvPr id="6" name="Text 3"/>
          <p:cNvSpPr/>
          <p:nvPr/>
        </p:nvSpPr>
        <p:spPr>
          <a:xfrm>
            <a:off x="3777035" y="1245840"/>
            <a:ext cx="5018931" cy="343719"/>
          </a:xfrm>
          <a:prstGeom prst="rect">
            <a:avLst/>
          </a:prstGeom>
          <a:noFill/>
          <a:ln/>
        </p:spPr>
        <p:txBody>
          <a:bodyPr wrap="none" lIns="0" tIns="0" rIns="0" bIns="0" rtlCol="0" anchor="t"/>
          <a:lstStyle/>
          <a:p>
            <a:pPr marL="0" indent="0" algn="ctr">
              <a:lnSpc>
                <a:spcPct val="83000"/>
              </a:lnSpc>
              <a:buNone/>
            </a:pPr>
            <a:r>
              <a:rPr lang="en-US" sz="2700" b="1" dirty="0">
                <a:solidFill>
                  <a:srgbClr val="384653"/>
                </a:solidFill>
                <a:latin typeface="Barlow Bold" pitchFamily="34" charset="0"/>
                <a:ea typeface="Barlow Bold" pitchFamily="34" charset="-122"/>
                <a:cs typeface="Barlow Bold" pitchFamily="34" charset="-120"/>
              </a:rPr>
              <a:t>5</a:t>
            </a:r>
            <a:endParaRPr lang="en-US" sz="2700" dirty="0"/>
          </a:p>
        </p:txBody>
      </p:sp>
      <p:sp>
        <p:nvSpPr>
          <p:cNvPr id="7" name="Text 4"/>
          <p:cNvSpPr/>
          <p:nvPr/>
        </p:nvSpPr>
        <p:spPr>
          <a:xfrm>
            <a:off x="5714033" y="1680939"/>
            <a:ext cx="1144860" cy="143098"/>
          </a:xfrm>
          <a:prstGeom prst="rect">
            <a:avLst/>
          </a:prstGeom>
          <a:noFill/>
          <a:ln/>
        </p:spPr>
        <p:txBody>
          <a:bodyPr wrap="none" lIns="0" tIns="0" rIns="0" bIns="0" rtlCol="0" anchor="t"/>
          <a:lstStyle/>
          <a:p>
            <a:pPr marL="0" indent="0" algn="ctr">
              <a:lnSpc>
                <a:spcPct val="104000"/>
              </a:lnSpc>
              <a:buNone/>
            </a:pPr>
            <a:r>
              <a:rPr lang="en-US" sz="900" b="1" dirty="0">
                <a:solidFill>
                  <a:srgbClr val="384653"/>
                </a:solidFill>
                <a:latin typeface="Barlow Bold" pitchFamily="34" charset="0"/>
                <a:ea typeface="Barlow Bold" pitchFamily="34" charset="-122"/>
                <a:cs typeface="Barlow Bold" pitchFamily="34" charset="-120"/>
              </a:rPr>
              <a:t>Core Tables</a:t>
            </a:r>
            <a:endParaRPr lang="en-US" sz="900" dirty="0"/>
          </a:p>
        </p:txBody>
      </p:sp>
      <p:sp>
        <p:nvSpPr>
          <p:cNvPr id="8" name="Text 5"/>
          <p:cNvSpPr/>
          <p:nvPr/>
        </p:nvSpPr>
        <p:spPr>
          <a:xfrm>
            <a:off x="3777035" y="1862361"/>
            <a:ext cx="5018931" cy="120625"/>
          </a:xfrm>
          <a:prstGeom prst="rect">
            <a:avLst/>
          </a:prstGeom>
          <a:noFill/>
          <a:ln/>
        </p:spPr>
        <p:txBody>
          <a:bodyPr wrap="none" lIns="0" tIns="0" rIns="0" bIns="0" rtlCol="0" anchor="t"/>
          <a:lstStyle/>
          <a:p>
            <a:pPr marL="0" indent="0" algn="ctr">
              <a:lnSpc>
                <a:spcPct val="116000"/>
              </a:lnSpc>
              <a:buNone/>
            </a:pPr>
            <a:r>
              <a:rPr lang="en-US" sz="650" dirty="0">
                <a:solidFill>
                  <a:srgbClr val="384653"/>
                </a:solidFill>
                <a:latin typeface="Montserrat" pitchFamily="34" charset="0"/>
                <a:ea typeface="Montserrat" pitchFamily="34" charset="-122"/>
                <a:cs typeface="Montserrat" pitchFamily="34" charset="-120"/>
              </a:rPr>
              <a:t>Customers, RoomCategory, Rooms, Reservations, and Payments</a:t>
            </a:r>
            <a:endParaRPr lang="en-US" sz="650" dirty="0"/>
          </a:p>
        </p:txBody>
      </p:sp>
      <p:sp>
        <p:nvSpPr>
          <p:cNvPr id="9" name="Text 6"/>
          <p:cNvSpPr/>
          <p:nvPr/>
        </p:nvSpPr>
        <p:spPr>
          <a:xfrm>
            <a:off x="3777035" y="2154213"/>
            <a:ext cx="5018931" cy="343719"/>
          </a:xfrm>
          <a:prstGeom prst="rect">
            <a:avLst/>
          </a:prstGeom>
          <a:noFill/>
          <a:ln/>
        </p:spPr>
        <p:txBody>
          <a:bodyPr wrap="none" lIns="0" tIns="0" rIns="0" bIns="0" rtlCol="0" anchor="t"/>
          <a:lstStyle/>
          <a:p>
            <a:pPr marL="0" indent="0" algn="ctr">
              <a:lnSpc>
                <a:spcPct val="83000"/>
              </a:lnSpc>
              <a:buNone/>
            </a:pPr>
            <a:r>
              <a:rPr lang="en-US" sz="2700" b="1" dirty="0">
                <a:solidFill>
                  <a:srgbClr val="384653"/>
                </a:solidFill>
                <a:latin typeface="Barlow Bold" pitchFamily="34" charset="0"/>
                <a:ea typeface="Barlow Bold" pitchFamily="34" charset="-122"/>
                <a:cs typeface="Barlow Bold" pitchFamily="34" charset="-120"/>
              </a:rPr>
              <a:t>3</a:t>
            </a:r>
            <a:endParaRPr lang="en-US" sz="2700" dirty="0"/>
          </a:p>
        </p:txBody>
      </p:sp>
      <p:sp>
        <p:nvSpPr>
          <p:cNvPr id="10" name="Text 7"/>
          <p:cNvSpPr/>
          <p:nvPr/>
        </p:nvSpPr>
        <p:spPr>
          <a:xfrm>
            <a:off x="5714033" y="2589312"/>
            <a:ext cx="1144860" cy="143098"/>
          </a:xfrm>
          <a:prstGeom prst="rect">
            <a:avLst/>
          </a:prstGeom>
          <a:noFill/>
          <a:ln/>
        </p:spPr>
        <p:txBody>
          <a:bodyPr wrap="none" lIns="0" tIns="0" rIns="0" bIns="0" rtlCol="0" anchor="t"/>
          <a:lstStyle/>
          <a:p>
            <a:pPr marL="0" indent="0" algn="ctr">
              <a:lnSpc>
                <a:spcPct val="104000"/>
              </a:lnSpc>
              <a:buNone/>
            </a:pPr>
            <a:r>
              <a:rPr lang="en-US" sz="900" b="1" dirty="0">
                <a:solidFill>
                  <a:srgbClr val="384653"/>
                </a:solidFill>
                <a:latin typeface="Barlow Bold" pitchFamily="34" charset="0"/>
                <a:ea typeface="Barlow Bold" pitchFamily="34" charset="-122"/>
                <a:cs typeface="Barlow Bold" pitchFamily="34" charset="-120"/>
              </a:rPr>
              <a:t>Normal Forms</a:t>
            </a:r>
            <a:endParaRPr lang="en-US" sz="900" dirty="0"/>
          </a:p>
        </p:txBody>
      </p:sp>
      <p:sp>
        <p:nvSpPr>
          <p:cNvPr id="11" name="Text 8"/>
          <p:cNvSpPr/>
          <p:nvPr/>
        </p:nvSpPr>
        <p:spPr>
          <a:xfrm>
            <a:off x="3777035" y="2770733"/>
            <a:ext cx="5018931" cy="120625"/>
          </a:xfrm>
          <a:prstGeom prst="rect">
            <a:avLst/>
          </a:prstGeom>
          <a:noFill/>
          <a:ln/>
        </p:spPr>
        <p:txBody>
          <a:bodyPr wrap="none" lIns="0" tIns="0" rIns="0" bIns="0" rtlCol="0" anchor="t"/>
          <a:lstStyle/>
          <a:p>
            <a:pPr marL="0" indent="0" algn="ctr">
              <a:lnSpc>
                <a:spcPct val="116000"/>
              </a:lnSpc>
              <a:buNone/>
            </a:pPr>
            <a:r>
              <a:rPr lang="en-US" sz="650" dirty="0">
                <a:solidFill>
                  <a:srgbClr val="384653"/>
                </a:solidFill>
                <a:latin typeface="Montserrat" pitchFamily="34" charset="0"/>
                <a:ea typeface="Montserrat" pitchFamily="34" charset="-122"/>
                <a:cs typeface="Montserrat" pitchFamily="34" charset="-120"/>
              </a:rPr>
              <a:t>1NF, 2NF, and 3NF applied to eliminate redundancy</a:t>
            </a:r>
            <a:endParaRPr lang="en-US" sz="650" dirty="0"/>
          </a:p>
        </p:txBody>
      </p:sp>
      <p:sp>
        <p:nvSpPr>
          <p:cNvPr id="12" name="Text 9"/>
          <p:cNvSpPr/>
          <p:nvPr/>
        </p:nvSpPr>
        <p:spPr>
          <a:xfrm>
            <a:off x="3777035" y="3062585"/>
            <a:ext cx="5018931" cy="343719"/>
          </a:xfrm>
          <a:prstGeom prst="rect">
            <a:avLst/>
          </a:prstGeom>
          <a:noFill/>
          <a:ln/>
        </p:spPr>
        <p:txBody>
          <a:bodyPr wrap="none" lIns="0" tIns="0" rIns="0" bIns="0" rtlCol="0" anchor="t"/>
          <a:lstStyle/>
          <a:p>
            <a:pPr marL="0" indent="0" algn="ctr">
              <a:lnSpc>
                <a:spcPct val="83000"/>
              </a:lnSpc>
              <a:buNone/>
            </a:pPr>
            <a:r>
              <a:rPr lang="en-US" sz="2700" b="1" dirty="0">
                <a:solidFill>
                  <a:srgbClr val="384653"/>
                </a:solidFill>
                <a:latin typeface="Barlow Bold" pitchFamily="34" charset="0"/>
                <a:ea typeface="Barlow Bold" pitchFamily="34" charset="-122"/>
                <a:cs typeface="Barlow Bold" pitchFamily="34" charset="-120"/>
              </a:rPr>
              <a:t>4</a:t>
            </a:r>
            <a:endParaRPr lang="en-US" sz="2700" dirty="0"/>
          </a:p>
        </p:txBody>
      </p:sp>
      <p:sp>
        <p:nvSpPr>
          <p:cNvPr id="13" name="Text 10"/>
          <p:cNvSpPr/>
          <p:nvPr/>
        </p:nvSpPr>
        <p:spPr>
          <a:xfrm>
            <a:off x="5714033" y="3497684"/>
            <a:ext cx="1144860" cy="143098"/>
          </a:xfrm>
          <a:prstGeom prst="rect">
            <a:avLst/>
          </a:prstGeom>
          <a:noFill/>
          <a:ln/>
        </p:spPr>
        <p:txBody>
          <a:bodyPr wrap="none" lIns="0" tIns="0" rIns="0" bIns="0" rtlCol="0" anchor="t"/>
          <a:lstStyle/>
          <a:p>
            <a:pPr marL="0" indent="0" algn="ctr">
              <a:lnSpc>
                <a:spcPct val="104000"/>
              </a:lnSpc>
              <a:buNone/>
            </a:pPr>
            <a:r>
              <a:rPr lang="en-US" sz="900" b="1" dirty="0">
                <a:solidFill>
                  <a:srgbClr val="384653"/>
                </a:solidFill>
                <a:latin typeface="Barlow Bold" pitchFamily="34" charset="0"/>
                <a:ea typeface="Barlow Bold" pitchFamily="34" charset="-122"/>
                <a:cs typeface="Barlow Bold" pitchFamily="34" charset="-120"/>
              </a:rPr>
              <a:t>SQL Command Types</a:t>
            </a:r>
            <a:endParaRPr lang="en-US" sz="900" dirty="0"/>
          </a:p>
        </p:txBody>
      </p:sp>
      <p:sp>
        <p:nvSpPr>
          <p:cNvPr id="14" name="Text 11"/>
          <p:cNvSpPr/>
          <p:nvPr/>
        </p:nvSpPr>
        <p:spPr>
          <a:xfrm>
            <a:off x="3777035" y="3679106"/>
            <a:ext cx="5018931" cy="120625"/>
          </a:xfrm>
          <a:prstGeom prst="rect">
            <a:avLst/>
          </a:prstGeom>
          <a:noFill/>
          <a:ln/>
        </p:spPr>
        <p:txBody>
          <a:bodyPr wrap="none" lIns="0" tIns="0" rIns="0" bIns="0" rtlCol="0" anchor="t"/>
          <a:lstStyle/>
          <a:p>
            <a:pPr marL="0" indent="0" algn="ctr">
              <a:lnSpc>
                <a:spcPct val="116000"/>
              </a:lnSpc>
              <a:buNone/>
            </a:pPr>
            <a:r>
              <a:rPr lang="en-US" sz="650" dirty="0">
                <a:solidFill>
                  <a:srgbClr val="384653"/>
                </a:solidFill>
                <a:latin typeface="Montserrat" pitchFamily="34" charset="0"/>
                <a:ea typeface="Montserrat" pitchFamily="34" charset="-122"/>
                <a:cs typeface="Montserrat" pitchFamily="34" charset="-120"/>
              </a:rPr>
              <a:t>DDL, DML, DCL, and TCL commands implemented</a:t>
            </a:r>
            <a:endParaRPr lang="en-US" sz="650" dirty="0"/>
          </a:p>
        </p:txBody>
      </p:sp>
      <p:sp>
        <p:nvSpPr>
          <p:cNvPr id="15" name="Text 12"/>
          <p:cNvSpPr/>
          <p:nvPr/>
        </p:nvSpPr>
        <p:spPr>
          <a:xfrm>
            <a:off x="3777035" y="3970958"/>
            <a:ext cx="5018931" cy="343719"/>
          </a:xfrm>
          <a:prstGeom prst="rect">
            <a:avLst/>
          </a:prstGeom>
          <a:noFill/>
          <a:ln/>
        </p:spPr>
        <p:txBody>
          <a:bodyPr wrap="none" lIns="0" tIns="0" rIns="0" bIns="0" rtlCol="0" anchor="t"/>
          <a:lstStyle/>
          <a:p>
            <a:pPr marL="0" indent="0" algn="ctr">
              <a:lnSpc>
                <a:spcPct val="83000"/>
              </a:lnSpc>
              <a:buNone/>
            </a:pPr>
            <a:r>
              <a:rPr lang="en-US" sz="2700" b="1" dirty="0">
                <a:solidFill>
                  <a:srgbClr val="384653"/>
                </a:solidFill>
                <a:latin typeface="Barlow Bold" pitchFamily="34" charset="0"/>
                <a:ea typeface="Barlow Bold" pitchFamily="34" charset="-122"/>
                <a:cs typeface="Barlow Bold" pitchFamily="34" charset="-120"/>
              </a:rPr>
              <a:t>5</a:t>
            </a:r>
            <a:endParaRPr lang="en-US" sz="2700" dirty="0"/>
          </a:p>
        </p:txBody>
      </p:sp>
      <p:sp>
        <p:nvSpPr>
          <p:cNvPr id="16" name="Text 13"/>
          <p:cNvSpPr/>
          <p:nvPr/>
        </p:nvSpPr>
        <p:spPr>
          <a:xfrm>
            <a:off x="5714033" y="4406057"/>
            <a:ext cx="1144860" cy="143098"/>
          </a:xfrm>
          <a:prstGeom prst="rect">
            <a:avLst/>
          </a:prstGeom>
          <a:noFill/>
          <a:ln/>
        </p:spPr>
        <p:txBody>
          <a:bodyPr wrap="none" lIns="0" tIns="0" rIns="0" bIns="0" rtlCol="0" anchor="t"/>
          <a:lstStyle/>
          <a:p>
            <a:pPr marL="0" indent="0" algn="ctr">
              <a:lnSpc>
                <a:spcPct val="104000"/>
              </a:lnSpc>
              <a:buNone/>
            </a:pPr>
            <a:r>
              <a:rPr lang="en-US" sz="900" b="1" dirty="0">
                <a:solidFill>
                  <a:srgbClr val="384653"/>
                </a:solidFill>
                <a:latin typeface="Barlow Bold" pitchFamily="34" charset="0"/>
                <a:ea typeface="Barlow Bold" pitchFamily="34" charset="-122"/>
                <a:cs typeface="Barlow Bold" pitchFamily="34" charset="-120"/>
              </a:rPr>
              <a:t>Advanced Features</a:t>
            </a:r>
            <a:endParaRPr lang="en-US" sz="900" dirty="0"/>
          </a:p>
        </p:txBody>
      </p:sp>
      <p:sp>
        <p:nvSpPr>
          <p:cNvPr id="17" name="Text 14"/>
          <p:cNvSpPr/>
          <p:nvPr/>
        </p:nvSpPr>
        <p:spPr>
          <a:xfrm>
            <a:off x="3777035" y="4587478"/>
            <a:ext cx="5018931" cy="120625"/>
          </a:xfrm>
          <a:prstGeom prst="rect">
            <a:avLst/>
          </a:prstGeom>
          <a:noFill/>
          <a:ln/>
        </p:spPr>
        <p:txBody>
          <a:bodyPr wrap="none" lIns="0" tIns="0" rIns="0" bIns="0" rtlCol="0" anchor="t"/>
          <a:lstStyle/>
          <a:p>
            <a:pPr marL="0" indent="0" algn="ctr">
              <a:lnSpc>
                <a:spcPct val="116000"/>
              </a:lnSpc>
              <a:buNone/>
            </a:pPr>
            <a:r>
              <a:rPr lang="en-US" sz="650" dirty="0">
                <a:solidFill>
                  <a:srgbClr val="384653"/>
                </a:solidFill>
                <a:latin typeface="Montserrat" pitchFamily="34" charset="0"/>
                <a:ea typeface="Montserrat" pitchFamily="34" charset="-122"/>
                <a:cs typeface="Montserrat" pitchFamily="34" charset="-120"/>
              </a:rPr>
              <a:t>Functions, Views, Triggers, Indexes, and Transactions</a:t>
            </a:r>
            <a:endParaRPr lang="en-US" sz="650" dirty="0"/>
          </a:p>
        </p:txBody>
      </p:sp>
      <p:sp>
        <p:nvSpPr>
          <p:cNvPr id="18" name="Text 15"/>
          <p:cNvSpPr/>
          <p:nvPr/>
        </p:nvSpPr>
        <p:spPr>
          <a:xfrm>
            <a:off x="3777035" y="4779987"/>
            <a:ext cx="5366965" cy="120625"/>
          </a:xfrm>
          <a:prstGeom prst="rect">
            <a:avLst/>
          </a:prstGeom>
          <a:noFill/>
          <a:ln/>
        </p:spPr>
        <p:txBody>
          <a:bodyPr wrap="none" lIns="0" tIns="0" rIns="0" bIns="0" rtlCol="0" anchor="t"/>
          <a:lstStyle/>
          <a:p>
            <a:pPr marL="0" indent="0" algn="l">
              <a:lnSpc>
                <a:spcPct val="116000"/>
              </a:lnSpc>
              <a:buNone/>
            </a:pP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1048</Words>
  <Application>Microsoft Office PowerPoint</Application>
  <PresentationFormat>On-screen Show (16:9)</PresentationFormat>
  <Paragraphs>132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Montserrat</vt:lpstr>
      <vt:lpstr>Barlow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md shadab alam</dc:creator>
  <cp:lastModifiedBy>md shadab alam</cp:lastModifiedBy>
  <cp:revision>2</cp:revision>
  <dcterms:created xsi:type="dcterms:W3CDTF">2026-05-24T14:49:06Z</dcterms:created>
  <dcterms:modified xsi:type="dcterms:W3CDTF">2026-05-25T03:15:16Z</dcterms:modified>
</cp:coreProperties>
</file>